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1174737C-22B7-1D00-BB2E-E3516A1982DC}">
          <p14:sldIdLst>
            <p14:sldId id="256"/>
            <p14:sldId id="257"/>
            <p14:sldId id="266"/>
          </p14:sldIdLst>
        </p14:section>
        <p14:section name="Felület" id="{1479283F-145E-3748-71B4-2F3E0CF35127}">
          <p14:sldIdLst>
            <p14:sldId id="258"/>
            <p14:sldId id="259"/>
          </p14:sldIdLst>
        </p14:section>
        <p14:section name="Technika" id="{5EDEC00A-9318-69C2-D8AC-2DD1FF4F2065}">
          <p14:sldIdLst>
            <p14:sldId id="260"/>
            <p14:sldId id="261"/>
            <p14:sldId id="262"/>
          </p14:sldIdLst>
        </p14:section>
        <p14:section name="Adatmodell" id="{2E13E654-649D-4B6D-423D-56133E29B7B8}">
          <p14:sldIdLst>
            <p14:sldId id="263"/>
            <p14:sldId id="264"/>
          </p14:sldIdLst>
        </p14:section>
        <p14:section name="Összegzés" id="{2C0E7DE3-F42D-94BA-8824-6A7B7A4D9C3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315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Üdvözlés, a projekt neve: DJS Áruház-Raktár, a felületen Raktár Archívum néven fut. Magyar nyelvű webalkalmazás raktárkészlet nyilvántartására; a jobb oldali polcábra a három raktári egységet és a státuszszíneket mutatja.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Három fő cél: keresés, tárhelyek áttekintése, jogosultság-alapú műveletek (utóbbi még terv). A számok a repóból jönnek: 12 tábla a v0.6 adatmodellben, 3 raktári egység a felületen, 2 API végpont.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felület egyetlen Vue komponens (RealRaktar.vue), a CSS a raktarcss.css fájlban van. Hat jól elkülönülő rész: fejléc, kereső, tárhelylista, gyorskeresés, állapottábla és a legutóbbi nyilvántartások.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táblázat három példasort tartalmaz a felületi tervből, hogy látszódjon a végleges kinézet. A státuszoknak három CSS-osztálya van: raktáron (zöld), lefoglalva (narancs), kiadva (piros). Az állapotmutatók értékei az adatbázis bekötése után töltődnek majd fel.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Négy réteg: a böngészőben futó Vue felület, a Vite fejlesztői szerver proxyja, az Express szerver és az SQLite adatbázis. Az első három már összeköttetésben van, az adatbázis-réteg előkészített, de a db.js és az app.db fájl jelenleg még üres.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frontend Vue rc kiadással és Vite 8-cal készül, a backend Node.js + Express nodemonnal. Az adatbázis SQLite fájl; a fejlesztést a concurrently és az npm scriptek teszik kényelmessé.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Két működő végpont van: /api/health és /api/message. A felületen a Regisztráció gomb a második végpontot hívja meg, ezzel tesztelve a front–back kapcsolatot. Az npm start a Vite-ot és az Express szervert együtt indítja.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séma 12 táblából áll. Öt logikai csoport: felhasználók és jogosultságok, napló és munkamenet, készlet, beszerzés (bejövő szállítások), kiadás (kimenő rendelések). A narancs fejlécű két tábla a v0.6-ban jött be. Az idegen kulcsok a Dia-tervben 'idegenkulcs' jelöléssel szerepelnek.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v0.5 tíz táblából állt. A v0.6 két új táblát hoz: az actionlog a műveletek naplózására, az active a bejelentkezett és inaktív felhasználók nyilvántartására szolgál. A többi rész – felhasználók, készlet, bejövő és kimenő forgalom – változatlan.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Összegzés: a felületi terv, a szerver váz és az adatmodell elkészült. A következő lépés az adatréteg megvalósítása és a sablonadatok kiváltása élő adatokkal, majd a bejelentkezés és a jogosultságok.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_SOTE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TAL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DJS Áruház-Raktár · Raktár Archívum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RO_SOTE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DJS Áruház-Raktár · Raktár Archívum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lirat"/>
          <p:cNvSpPr txBox="1"/>
          <p:nvPr/>
        </p:nvSpPr>
        <p:spPr>
          <a:xfrm>
            <a:off x="525781" y="12982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6"/>
                </a:solidFill>
              </a:rPr>
              <a:t>RAKTÁR ARCHÍVUM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14998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DJS Áruház-Raktár</a:t>
            </a:r>
            <a:endParaRPr lang="en-US" sz="5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25781" y="3703320"/>
            <a:ext cx="58521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 err="1">
                <a:solidFill>
                  <a:schemeClr val="bg2"/>
                </a:solidFill>
              </a:rPr>
              <a:t>Raktárkészlet-nyilvántartó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webalkalmazás</a:t>
            </a:r>
            <a:r>
              <a:rPr lang="hu-HU" sz="2400" dirty="0">
                <a:solidFill>
                  <a:schemeClr val="bg2"/>
                </a:solidFill>
              </a:rPr>
              <a:t> </a:t>
            </a:r>
            <a:br>
              <a:rPr lang="hu-HU" sz="2400" dirty="0">
                <a:solidFill>
                  <a:schemeClr val="bg2"/>
                </a:solidFill>
              </a:rPr>
            </a:br>
            <a:r>
              <a:rPr lang="hu-HU" sz="2400" dirty="0">
                <a:solidFill>
                  <a:schemeClr val="bg2"/>
                </a:solidFill>
              </a:rPr>
              <a:t>Készítette: Dobi László Márk, </a:t>
            </a:r>
            <a:r>
              <a:rPr lang="hu-HU" sz="2400" dirty="0" err="1">
                <a:solidFill>
                  <a:schemeClr val="bg2"/>
                </a:solidFill>
              </a:rPr>
              <a:t>Jákli</a:t>
            </a:r>
            <a:r>
              <a:rPr lang="hu-HU" sz="2400" dirty="0">
                <a:solidFill>
                  <a:schemeClr val="bg2"/>
                </a:solidFill>
              </a:rPr>
              <a:t> Milán Márk, Salamon Botond</a:t>
            </a:r>
            <a:endParaRPr lang="en-US" sz="2400" dirty="0"/>
          </a:p>
        </p:txBody>
      </p:sp>
      <p:sp>
        <p:nvSpPr>
          <p:cNvPr id="5" name="Technológiák"/>
          <p:cNvSpPr txBox="1"/>
          <p:nvPr/>
        </p:nvSpPr>
        <p:spPr>
          <a:xfrm>
            <a:off x="525781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Vue · Express · SQLite</a:t>
            </a:r>
            <a:endParaRPr lang="en-US" sz="1800" dirty="0"/>
          </a:p>
        </p:txBody>
      </p:sp>
      <p:sp>
        <p:nvSpPr>
          <p:cNvPr id="6" name="Repó cím"/>
          <p:cNvSpPr txBox="1"/>
          <p:nvPr/>
        </p:nvSpPr>
        <p:spPr>
          <a:xfrm>
            <a:off x="731520" y="6035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github.com/tataverteee/DJS_Aruhaz-Raktar</a:t>
            </a:r>
            <a:endParaRPr lang="en-US" sz="1400" dirty="0"/>
          </a:p>
        </p:txBody>
      </p:sp>
      <p:sp>
        <p:nvSpPr>
          <p:cNvPr id="7" name="Polc felirat 1"/>
          <p:cNvSpPr txBox="1"/>
          <p:nvPr/>
        </p:nvSpPr>
        <p:spPr>
          <a:xfrm>
            <a:off x="69951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A-100 · Elektronika</a:t>
            </a:r>
            <a:endParaRPr lang="en-US" sz="1400" dirty="0"/>
          </a:p>
        </p:txBody>
      </p:sp>
      <p:sp>
        <p:nvSpPr>
          <p:cNvPr id="8" name="Rekesz 1-1"/>
          <p:cNvSpPr/>
          <p:nvPr/>
        </p:nvSpPr>
        <p:spPr>
          <a:xfrm>
            <a:off x="6995160" y="173736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ekesz 1-2"/>
          <p:cNvSpPr/>
          <p:nvPr/>
        </p:nvSpPr>
        <p:spPr>
          <a:xfrm>
            <a:off x="8138160" y="173736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kesz 1-3"/>
          <p:cNvSpPr/>
          <p:nvPr/>
        </p:nvSpPr>
        <p:spPr>
          <a:xfrm>
            <a:off x="9281160" y="173736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kesz 1-4"/>
          <p:cNvSpPr/>
          <p:nvPr/>
        </p:nvSpPr>
        <p:spPr>
          <a:xfrm>
            <a:off x="10424160" y="173736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Polc 1"/>
          <p:cNvSpPr/>
          <p:nvPr/>
        </p:nvSpPr>
        <p:spPr>
          <a:xfrm>
            <a:off x="6766560" y="2560320"/>
            <a:ext cx="4846320" cy="64008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Polc felirat 2"/>
          <p:cNvSpPr txBox="1"/>
          <p:nvPr/>
        </p:nvSpPr>
        <p:spPr>
          <a:xfrm>
            <a:off x="699516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B-200 · Szerszámok</a:t>
            </a:r>
            <a:endParaRPr lang="en-US" sz="1400" dirty="0"/>
          </a:p>
        </p:txBody>
      </p:sp>
      <p:sp>
        <p:nvSpPr>
          <p:cNvPr id="14" name="Rekesz 2-1"/>
          <p:cNvSpPr/>
          <p:nvPr/>
        </p:nvSpPr>
        <p:spPr>
          <a:xfrm>
            <a:off x="6995160" y="338328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ekesz 2-2"/>
          <p:cNvSpPr/>
          <p:nvPr/>
        </p:nvSpPr>
        <p:spPr>
          <a:xfrm>
            <a:off x="8138160" y="338328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ekesz 2-3"/>
          <p:cNvSpPr/>
          <p:nvPr/>
        </p:nvSpPr>
        <p:spPr>
          <a:xfrm>
            <a:off x="9281160" y="338328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Rekesz 2-4"/>
          <p:cNvSpPr/>
          <p:nvPr/>
        </p:nvSpPr>
        <p:spPr>
          <a:xfrm>
            <a:off x="10424160" y="338328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Polc 2"/>
          <p:cNvSpPr/>
          <p:nvPr/>
        </p:nvSpPr>
        <p:spPr>
          <a:xfrm>
            <a:off x="6766560" y="4206240"/>
            <a:ext cx="4846320" cy="64008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Polc felirat 3"/>
          <p:cNvSpPr txBox="1"/>
          <p:nvPr/>
        </p:nvSpPr>
        <p:spPr>
          <a:xfrm>
            <a:off x="69951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C-300 · Dokumentumok</a:t>
            </a:r>
            <a:endParaRPr lang="en-US" sz="1400" dirty="0"/>
          </a:p>
        </p:txBody>
      </p:sp>
      <p:sp>
        <p:nvSpPr>
          <p:cNvPr id="20" name="Rekesz 3-1"/>
          <p:cNvSpPr/>
          <p:nvPr/>
        </p:nvSpPr>
        <p:spPr>
          <a:xfrm>
            <a:off x="6995160" y="502920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Rekesz 3-2"/>
          <p:cNvSpPr/>
          <p:nvPr/>
        </p:nvSpPr>
        <p:spPr>
          <a:xfrm>
            <a:off x="8138160" y="502920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Rekesz 3-3"/>
          <p:cNvSpPr/>
          <p:nvPr/>
        </p:nvSpPr>
        <p:spPr>
          <a:xfrm>
            <a:off x="9281160" y="502920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Rekesz 3-4"/>
          <p:cNvSpPr/>
          <p:nvPr/>
        </p:nvSpPr>
        <p:spPr>
          <a:xfrm>
            <a:off x="10424160" y="5029200"/>
            <a:ext cx="1005840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Polc 3"/>
          <p:cNvSpPr/>
          <p:nvPr/>
        </p:nvSpPr>
        <p:spPr>
          <a:xfrm>
            <a:off x="6766560" y="5852160"/>
            <a:ext cx="4846320" cy="64008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Jelmagyarázat jel 1"/>
          <p:cNvSpPr/>
          <p:nvPr/>
        </p:nvSpPr>
        <p:spPr>
          <a:xfrm>
            <a:off x="6995160" y="6053328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Jelmagyarázat 1"/>
          <p:cNvSpPr txBox="1"/>
          <p:nvPr/>
        </p:nvSpPr>
        <p:spPr>
          <a:xfrm>
            <a:off x="7251192" y="5989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Raktáron</a:t>
            </a:r>
            <a:endParaRPr lang="en-US" sz="1200" dirty="0"/>
          </a:p>
        </p:txBody>
      </p:sp>
      <p:sp>
        <p:nvSpPr>
          <p:cNvPr id="27" name="Jelmagyarázat jel 2"/>
          <p:cNvSpPr/>
          <p:nvPr/>
        </p:nvSpPr>
        <p:spPr>
          <a:xfrm>
            <a:off x="8595360" y="605332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Jelmagyarázat 2"/>
          <p:cNvSpPr txBox="1"/>
          <p:nvPr/>
        </p:nvSpPr>
        <p:spPr>
          <a:xfrm>
            <a:off x="8851392" y="5989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Lefoglalva</a:t>
            </a:r>
            <a:endParaRPr lang="en-US" sz="1200" dirty="0"/>
          </a:p>
        </p:txBody>
      </p:sp>
      <p:sp>
        <p:nvSpPr>
          <p:cNvPr id="29" name="Jelmagyarázat jel 3"/>
          <p:cNvSpPr/>
          <p:nvPr/>
        </p:nvSpPr>
        <p:spPr>
          <a:xfrm>
            <a:off x="10195560" y="6053328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Jelmagyarázat 3"/>
          <p:cNvSpPr txBox="1"/>
          <p:nvPr/>
        </p:nvSpPr>
        <p:spPr>
          <a:xfrm>
            <a:off x="10451592" y="5989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Kiadva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 projekt egy pillantásra</a:t>
            </a:r>
            <a:endParaRPr lang="en-US" sz="3600" dirty="0"/>
          </a:p>
        </p:txBody>
      </p:sp>
      <p:sp>
        <p:nvSpPr>
          <p:cNvPr id="3" name="Bevezető"/>
          <p:cNvSpPr txBox="1"/>
          <p:nvPr/>
        </p:nvSpPr>
        <p:spPr>
          <a:xfrm>
            <a:off x="548640" y="1508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 DJS Áruház-Raktár egy magyar nyelvű webalkalmazás, amellyel tárgyak, tárhelyek és raklaptételek tarthatók nyilván és kereshetők.</a:t>
            </a:r>
            <a:endParaRPr lang="en-US" sz="1800" dirty="0"/>
          </a:p>
        </p:txBody>
      </p:sp>
      <p:sp>
        <p:nvSpPr>
          <p:cNvPr id="4" name="Keresés kör"/>
          <p:cNvSpPr/>
          <p:nvPr/>
        </p:nvSpPr>
        <p:spPr>
          <a:xfrm>
            <a:off x="548640" y="292608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Keresés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90672"/>
            <a:ext cx="356616" cy="356616"/>
          </a:xfrm>
          <a:prstGeom prst="rect">
            <a:avLst/>
          </a:prstGeom>
        </p:spPr>
      </p:pic>
      <p:sp>
        <p:nvSpPr>
          <p:cNvPr id="6" name="Keresés cím"/>
          <p:cNvSpPr txBox="1"/>
          <p:nvPr/>
        </p:nvSpPr>
        <p:spPr>
          <a:xfrm>
            <a:off x="1508760" y="290779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Keresés</a:t>
            </a:r>
            <a:endParaRPr lang="en-US" sz="2000" dirty="0"/>
          </a:p>
        </p:txBody>
      </p:sp>
      <p:sp>
        <p:nvSpPr>
          <p:cNvPr id="7" name="Keresés leírás"/>
          <p:cNvSpPr txBox="1"/>
          <p:nvPr/>
        </p:nvSpPr>
        <p:spPr>
          <a:xfrm>
            <a:off x="1508760" y="327355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Tárhelyek, eszközök és raklaptételek keresése kulcsszó vagy pontos azonosító alapján.</a:t>
            </a:r>
            <a:endParaRPr lang="en-US" sz="1400" dirty="0"/>
          </a:p>
        </p:txBody>
      </p:sp>
      <p:sp>
        <p:nvSpPr>
          <p:cNvPr id="8" name="Tárhelyek kör"/>
          <p:cNvSpPr/>
          <p:nvPr/>
        </p:nvSpPr>
        <p:spPr>
          <a:xfrm>
            <a:off x="548640" y="4023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Tárhelyek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87952"/>
            <a:ext cx="356616" cy="356616"/>
          </a:xfrm>
          <a:prstGeom prst="rect">
            <a:avLst/>
          </a:prstGeom>
        </p:spPr>
      </p:pic>
      <p:sp>
        <p:nvSpPr>
          <p:cNvPr id="10" name="Tárhelyek cím"/>
          <p:cNvSpPr txBox="1"/>
          <p:nvPr/>
        </p:nvSpPr>
        <p:spPr>
          <a:xfrm>
            <a:off x="1508760" y="40050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Tárhelyek</a:t>
            </a:r>
            <a:endParaRPr lang="en-US" sz="2000" dirty="0"/>
          </a:p>
        </p:txBody>
      </p:sp>
      <p:sp>
        <p:nvSpPr>
          <p:cNvPr id="11" name="Tárhelyek leírás"/>
          <p:cNvSpPr txBox="1"/>
          <p:nvPr/>
        </p:nvSpPr>
        <p:spPr>
          <a:xfrm>
            <a:off x="1508760" y="437083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Raktári egységek (A-100, B-200, C-300) böngészése és állapotuk áttekintése.</a:t>
            </a:r>
            <a:endParaRPr lang="en-US" sz="1400" dirty="0"/>
          </a:p>
        </p:txBody>
      </p:sp>
      <p:sp>
        <p:nvSpPr>
          <p:cNvPr id="12" name="Jogosultságok kör"/>
          <p:cNvSpPr/>
          <p:nvPr/>
        </p:nvSpPr>
        <p:spPr>
          <a:xfrm>
            <a:off x="548640" y="51206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Jogosultságok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285232"/>
            <a:ext cx="356616" cy="356616"/>
          </a:xfrm>
          <a:prstGeom prst="rect">
            <a:avLst/>
          </a:prstGeom>
        </p:spPr>
      </p:pic>
      <p:sp>
        <p:nvSpPr>
          <p:cNvPr id="14" name="Jogosultságok cím"/>
          <p:cNvSpPr txBox="1"/>
          <p:nvPr/>
        </p:nvSpPr>
        <p:spPr>
          <a:xfrm>
            <a:off x="1508760" y="51023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Jogosultságok</a:t>
            </a:r>
            <a:endParaRPr lang="en-US" sz="2000" dirty="0"/>
          </a:p>
        </p:txBody>
      </p:sp>
      <p:sp>
        <p:nvSpPr>
          <p:cNvPr id="15" name="Jogosultságok leírás"/>
          <p:cNvSpPr txBox="1"/>
          <p:nvPr/>
        </p:nvSpPr>
        <p:spPr>
          <a:xfrm>
            <a:off x="1508760" y="546811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Szerepkörök szerint elérhető műveletek, például szerkesztés és törlés – tervezett.</a:t>
            </a:r>
            <a:endParaRPr lang="en-US" sz="1400" dirty="0"/>
          </a:p>
        </p:txBody>
      </p:sp>
      <p:sp>
        <p:nvSpPr>
          <p:cNvPr id="16" name="Mutató kártya 1"/>
          <p:cNvSpPr/>
          <p:nvPr/>
        </p:nvSpPr>
        <p:spPr>
          <a:xfrm>
            <a:off x="7589520" y="150876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Mutató szám 1"/>
          <p:cNvSpPr txBox="1"/>
          <p:nvPr/>
        </p:nvSpPr>
        <p:spPr>
          <a:xfrm>
            <a:off x="7863840" y="15087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12</a:t>
            </a:r>
            <a:endParaRPr lang="en-US" sz="5400" dirty="0"/>
          </a:p>
        </p:txBody>
      </p:sp>
      <p:sp>
        <p:nvSpPr>
          <p:cNvPr id="18" name="Mutató felirat 1"/>
          <p:cNvSpPr txBox="1"/>
          <p:nvPr/>
        </p:nvSpPr>
        <p:spPr>
          <a:xfrm>
            <a:off x="9098280" y="15087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adattábla az adatmodell v0.6-os tervében</a:t>
            </a:r>
            <a:endParaRPr lang="en-US" sz="1400" dirty="0"/>
          </a:p>
        </p:txBody>
      </p:sp>
      <p:sp>
        <p:nvSpPr>
          <p:cNvPr id="19" name="Mutató kártya 2"/>
          <p:cNvSpPr/>
          <p:nvPr/>
        </p:nvSpPr>
        <p:spPr>
          <a:xfrm>
            <a:off x="7589520" y="310896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Mutató szám 2"/>
          <p:cNvSpPr txBox="1"/>
          <p:nvPr/>
        </p:nvSpPr>
        <p:spPr>
          <a:xfrm>
            <a:off x="7863840" y="31089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3</a:t>
            </a:r>
            <a:endParaRPr lang="en-US" sz="5400" dirty="0"/>
          </a:p>
        </p:txBody>
      </p:sp>
      <p:sp>
        <p:nvSpPr>
          <p:cNvPr id="21" name="Mutató felirat 2"/>
          <p:cNvSpPr txBox="1"/>
          <p:nvPr/>
        </p:nvSpPr>
        <p:spPr>
          <a:xfrm>
            <a:off x="9098280" y="31089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raktári egység a felületi tervben</a:t>
            </a:r>
            <a:endParaRPr lang="en-US" sz="1400" dirty="0"/>
          </a:p>
        </p:txBody>
      </p:sp>
      <p:sp>
        <p:nvSpPr>
          <p:cNvPr id="22" name="Mutató kártya 3"/>
          <p:cNvSpPr/>
          <p:nvPr/>
        </p:nvSpPr>
        <p:spPr>
          <a:xfrm>
            <a:off x="7589520" y="470916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Mutató szám 3"/>
          <p:cNvSpPr txBox="1"/>
          <p:nvPr/>
        </p:nvSpPr>
        <p:spPr>
          <a:xfrm>
            <a:off x="7863840" y="47091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2</a:t>
            </a:r>
            <a:endParaRPr lang="en-US" sz="5400" dirty="0"/>
          </a:p>
        </p:txBody>
      </p:sp>
      <p:sp>
        <p:nvSpPr>
          <p:cNvPr id="24" name="Mutató felirat 3"/>
          <p:cNvSpPr txBox="1"/>
          <p:nvPr/>
        </p:nvSpPr>
        <p:spPr>
          <a:xfrm>
            <a:off x="9098280" y="4709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 végpont a szerveren (/api/health, /api/message)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E397D0-B0BB-E3F4-2E26-1CCFDDCD07A7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169078" y="365760"/>
            <a:ext cx="11064240" cy="868680"/>
          </a:xfrm>
        </p:spPr>
        <p:txBody>
          <a:bodyPr/>
          <a:lstStyle/>
          <a:p>
            <a:pPr algn="ctr"/>
            <a:r>
              <a:rPr lang="hu-HU" dirty="0" err="1"/>
              <a:t>Fejelsztők</a:t>
            </a:r>
            <a:endParaRPr lang="en-US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81CB393-4CDB-BFFD-A313-D29DB2C9E3FC}"/>
              </a:ext>
            </a:extLst>
          </p:cNvPr>
          <p:cNvSpPr txBox="1"/>
          <p:nvPr/>
        </p:nvSpPr>
        <p:spPr>
          <a:xfrm>
            <a:off x="4809190" y="1568404"/>
            <a:ext cx="17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Dobi László Márk</a:t>
            </a:r>
            <a:endParaRPr lang="en-US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5167624F-5079-A19F-044E-22CA04C56050}"/>
              </a:ext>
            </a:extLst>
          </p:cNvPr>
          <p:cNvSpPr txBox="1"/>
          <p:nvPr/>
        </p:nvSpPr>
        <p:spPr>
          <a:xfrm>
            <a:off x="1259457" y="1568404"/>
            <a:ext cx="1712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Jákli</a:t>
            </a:r>
            <a:r>
              <a:rPr lang="hu-HU" dirty="0"/>
              <a:t> Milán Márk</a:t>
            </a:r>
            <a:endParaRPr lang="en-US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CB7A01C2-DAE6-40A5-11A5-54A95D4E2DB2}"/>
              </a:ext>
            </a:extLst>
          </p:cNvPr>
          <p:cNvSpPr txBox="1"/>
          <p:nvPr/>
        </p:nvSpPr>
        <p:spPr>
          <a:xfrm>
            <a:off x="9200017" y="1568404"/>
            <a:ext cx="173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Salamon Botond</a:t>
            </a:r>
            <a:endParaRPr lang="en-US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016A258-57C9-BB39-35F6-B60BB753500F}"/>
              </a:ext>
            </a:extLst>
          </p:cNvPr>
          <p:cNvSpPr txBox="1"/>
          <p:nvPr/>
        </p:nvSpPr>
        <p:spPr>
          <a:xfrm>
            <a:off x="1015512" y="2271700"/>
            <a:ext cx="2200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dirty="0"/>
              <a:t>Frontend és </a:t>
            </a:r>
            <a:r>
              <a:rPr lang="hu-HU" dirty="0" err="1"/>
              <a:t>template</a:t>
            </a:r>
            <a:endParaRPr lang="hu-HU" dirty="0"/>
          </a:p>
          <a:p>
            <a:pPr algn="ctr"/>
            <a:endParaRPr lang="hu-HU" dirty="0"/>
          </a:p>
          <a:p>
            <a:pPr algn="ctr"/>
            <a:r>
              <a:rPr lang="hu-HU" dirty="0"/>
              <a:t>Web Design</a:t>
            </a:r>
            <a:endParaRPr lang="en-US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FF9D9A05-F94D-B3A4-AAD2-CE569EE02B9E}"/>
              </a:ext>
            </a:extLst>
          </p:cNvPr>
          <p:cNvSpPr txBox="1"/>
          <p:nvPr/>
        </p:nvSpPr>
        <p:spPr>
          <a:xfrm>
            <a:off x="4055978" y="2271700"/>
            <a:ext cx="334219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dirty="0"/>
              <a:t>Ötletgazda</a:t>
            </a:r>
          </a:p>
          <a:p>
            <a:pPr algn="ctr"/>
            <a:endParaRPr lang="hu-HU" dirty="0"/>
          </a:p>
          <a:p>
            <a:pPr algn="ctr"/>
            <a:r>
              <a:rPr lang="hu-HU" dirty="0"/>
              <a:t>Adatbázis megtervezése</a:t>
            </a:r>
          </a:p>
          <a:p>
            <a:pPr algn="ctr"/>
            <a:endParaRPr lang="hu-HU" dirty="0"/>
          </a:p>
          <a:p>
            <a:pPr algn="ctr"/>
            <a:r>
              <a:rPr lang="hu-HU" dirty="0"/>
              <a:t>Projectmanagement</a:t>
            </a:r>
          </a:p>
          <a:p>
            <a:pPr algn="ctr"/>
            <a:endParaRPr lang="hu-HU" dirty="0"/>
          </a:p>
          <a:p>
            <a:pPr algn="ctr"/>
            <a:r>
              <a:rPr lang="hu-HU" dirty="0"/>
              <a:t>Fejlesztési folyamatok felügyelése</a:t>
            </a:r>
          </a:p>
          <a:p>
            <a:pPr algn="ctr"/>
            <a:endParaRPr lang="hu-HU" dirty="0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2DB4E73-22DC-1869-DA51-93B7C3FEE630}"/>
              </a:ext>
            </a:extLst>
          </p:cNvPr>
          <p:cNvSpPr txBox="1"/>
          <p:nvPr/>
        </p:nvSpPr>
        <p:spPr>
          <a:xfrm>
            <a:off x="7990712" y="2271700"/>
            <a:ext cx="4151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dirty="0"/>
              <a:t>Backend és server </a:t>
            </a:r>
            <a:r>
              <a:rPr lang="hu-HU" dirty="0" err="1"/>
              <a:t>setup</a:t>
            </a:r>
            <a:endParaRPr lang="hu-HU" dirty="0"/>
          </a:p>
          <a:p>
            <a:pPr algn="ctr"/>
            <a:endParaRPr lang="hu-HU" dirty="0"/>
          </a:p>
          <a:p>
            <a:pPr algn="ctr"/>
            <a:r>
              <a:rPr lang="hu-HU" dirty="0"/>
              <a:t>Későbbiekben adatbázis működésre bírása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952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 felhasználói felület felépítése</a:t>
            </a:r>
            <a:endParaRPr lang="en-US" sz="3600" dirty="0"/>
          </a:p>
        </p:txBody>
      </p:sp>
      <p:sp>
        <p:nvSpPr>
          <p:cNvPr id="3" name="Kártya Fejléc és menü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Fejléc és menü kör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Fejléc és menü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1919143"/>
            <a:ext cx="294803" cy="294803"/>
          </a:xfrm>
          <a:prstGeom prst="rect">
            <a:avLst/>
          </a:prstGeom>
        </p:spPr>
      </p:pic>
      <p:sp>
        <p:nvSpPr>
          <p:cNvPr id="6" name="Fejléc és menü cím"/>
          <p:cNvSpPr txBox="1"/>
          <p:nvPr/>
        </p:nvSpPr>
        <p:spPr>
          <a:xfrm>
            <a:off x="155448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Fejléc és menü</a:t>
            </a:r>
            <a:endParaRPr lang="en-US" sz="2000" dirty="0"/>
          </a:p>
        </p:txBody>
      </p:sp>
      <p:sp>
        <p:nvSpPr>
          <p:cNvPr id="7" name="Fejléc és menü leírás"/>
          <p:cNvSpPr txBox="1"/>
          <p:nvPr/>
        </p:nvSpPr>
        <p:spPr>
          <a:xfrm>
            <a:off x="82296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Márka, főmenü (Web, Tárhelyek, Tárgyak, Kategóriák), szerepkör-jelvény, regisztráció és bejelentkezés.</a:t>
            </a:r>
            <a:endParaRPr lang="en-US" sz="1400" dirty="0"/>
          </a:p>
        </p:txBody>
      </p:sp>
      <p:sp>
        <p:nvSpPr>
          <p:cNvPr id="8" name="Kártya Kereső sáv"/>
          <p:cNvSpPr/>
          <p:nvPr/>
        </p:nvSpPr>
        <p:spPr>
          <a:xfrm>
            <a:off x="4343400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Kereső sáv kör"/>
          <p:cNvSpPr/>
          <p:nvPr/>
        </p:nvSpPr>
        <p:spPr>
          <a:xfrm>
            <a:off x="4617720" y="17830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Kereső sáv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83" y="1919143"/>
            <a:ext cx="294803" cy="294803"/>
          </a:xfrm>
          <a:prstGeom prst="rect">
            <a:avLst/>
          </a:prstGeom>
        </p:spPr>
      </p:pic>
      <p:sp>
        <p:nvSpPr>
          <p:cNvPr id="11" name="Kereső sáv cím"/>
          <p:cNvSpPr txBox="1"/>
          <p:nvPr/>
        </p:nvSpPr>
        <p:spPr>
          <a:xfrm>
            <a:off x="534924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Kereső sáv</a:t>
            </a:r>
            <a:endParaRPr lang="en-US" sz="2000" dirty="0"/>
          </a:p>
        </p:txBody>
      </p:sp>
      <p:sp>
        <p:nvSpPr>
          <p:cNvPr id="12" name="Kereső sáv leírás"/>
          <p:cNvSpPr txBox="1"/>
          <p:nvPr/>
        </p:nvSpPr>
        <p:spPr>
          <a:xfrm>
            <a:off x="461772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Legördülő szűrő (Összes, Tárhelyek, Eszközök, Raklaptételek) és szabad szöveges kulcsszó.</a:t>
            </a:r>
            <a:endParaRPr lang="en-US" sz="1400" dirty="0"/>
          </a:p>
        </p:txBody>
      </p:sp>
      <p:sp>
        <p:nvSpPr>
          <p:cNvPr id="13" name="Kártya Tárhelyek böngészése"/>
          <p:cNvSpPr/>
          <p:nvPr/>
        </p:nvSpPr>
        <p:spPr>
          <a:xfrm>
            <a:off x="8138160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árhelyek böngészése kör"/>
          <p:cNvSpPr/>
          <p:nvPr/>
        </p:nvSpPr>
        <p:spPr>
          <a:xfrm>
            <a:off x="8412480" y="178308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Tárhelyek böngészés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543" y="1919143"/>
            <a:ext cx="294803" cy="294803"/>
          </a:xfrm>
          <a:prstGeom prst="rect">
            <a:avLst/>
          </a:prstGeom>
        </p:spPr>
      </p:pic>
      <p:sp>
        <p:nvSpPr>
          <p:cNvPr id="16" name="Tárhelyek böngészése cím"/>
          <p:cNvSpPr txBox="1"/>
          <p:nvPr/>
        </p:nvSpPr>
        <p:spPr>
          <a:xfrm>
            <a:off x="914400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Tárhelyek böngészése</a:t>
            </a:r>
            <a:endParaRPr lang="en-US" sz="2000" dirty="0"/>
          </a:p>
        </p:txBody>
      </p:sp>
      <p:sp>
        <p:nvSpPr>
          <p:cNvPr id="17" name="Tárhelyek böngészése leírás"/>
          <p:cNvSpPr txBox="1"/>
          <p:nvPr/>
        </p:nvSpPr>
        <p:spPr>
          <a:xfrm>
            <a:off x="841248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A-100 Elektronika, B-200 Szerszámok és C-300 Dokumentumok egységek listája.</a:t>
            </a:r>
            <a:endParaRPr lang="en-US" sz="1400" dirty="0"/>
          </a:p>
        </p:txBody>
      </p:sp>
      <p:sp>
        <p:nvSpPr>
          <p:cNvPr id="18" name="Kártya Gyorskeresés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Gyorskeresés kör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Gyorskeresés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023" y="4342303"/>
            <a:ext cx="294803" cy="294803"/>
          </a:xfrm>
          <a:prstGeom prst="rect">
            <a:avLst/>
          </a:prstGeom>
        </p:spPr>
      </p:pic>
      <p:sp>
        <p:nvSpPr>
          <p:cNvPr id="21" name="Gyorskeresés cím"/>
          <p:cNvSpPr txBox="1"/>
          <p:nvPr/>
        </p:nvSpPr>
        <p:spPr>
          <a:xfrm>
            <a:off x="1554480" y="4160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Gyorskeresés</a:t>
            </a:r>
            <a:endParaRPr lang="en-US" sz="2000" dirty="0"/>
          </a:p>
        </p:txBody>
      </p:sp>
      <p:sp>
        <p:nvSpPr>
          <p:cNvPr id="22" name="Gyorskeresés leírás"/>
          <p:cNvSpPr txBox="1"/>
          <p:nvPr/>
        </p:nvSpPr>
        <p:spPr>
          <a:xfrm>
            <a:off x="822960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Tárgy keresése pontos azonosító alapján, például #T-123.</a:t>
            </a:r>
            <a:endParaRPr lang="en-US" sz="1400" dirty="0"/>
          </a:p>
        </p:txBody>
      </p:sp>
      <p:sp>
        <p:nvSpPr>
          <p:cNvPr id="23" name="Kártya Tárhelyek állapota"/>
          <p:cNvSpPr/>
          <p:nvPr/>
        </p:nvSpPr>
        <p:spPr>
          <a:xfrm>
            <a:off x="4343400" y="393192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árhelyek állapota kör"/>
          <p:cNvSpPr/>
          <p:nvPr/>
        </p:nvSpPr>
        <p:spPr>
          <a:xfrm>
            <a:off x="4617720" y="420624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Tárhelyek állapota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3783" y="4342303"/>
            <a:ext cx="294803" cy="294803"/>
          </a:xfrm>
          <a:prstGeom prst="rect">
            <a:avLst/>
          </a:prstGeom>
        </p:spPr>
      </p:pic>
      <p:sp>
        <p:nvSpPr>
          <p:cNvPr id="26" name="Tárhelyek állapota cím"/>
          <p:cNvSpPr txBox="1"/>
          <p:nvPr/>
        </p:nvSpPr>
        <p:spPr>
          <a:xfrm>
            <a:off x="5349240" y="4160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Tárhelyek állapota</a:t>
            </a:r>
            <a:endParaRPr lang="en-US" sz="2000" dirty="0"/>
          </a:p>
        </p:txBody>
      </p:sp>
      <p:sp>
        <p:nvSpPr>
          <p:cNvPr id="27" name="Tárhelyek állapota leírás"/>
          <p:cNvSpPr txBox="1"/>
          <p:nvPr/>
        </p:nvSpPr>
        <p:spPr>
          <a:xfrm>
            <a:off x="4617720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Összes létesítmény, foglalt tárhely, szabad kapacitás, utolsó ellenőrzés és adatbázis-állapot.</a:t>
            </a:r>
            <a:endParaRPr lang="en-US" sz="1400" dirty="0"/>
          </a:p>
        </p:txBody>
      </p:sp>
      <p:sp>
        <p:nvSpPr>
          <p:cNvPr id="28" name="Kártya Nyilvántartások"/>
          <p:cNvSpPr/>
          <p:nvPr/>
        </p:nvSpPr>
        <p:spPr>
          <a:xfrm>
            <a:off x="8138160" y="393192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Nyilvántartások kör"/>
          <p:cNvSpPr/>
          <p:nvPr/>
        </p:nvSpPr>
        <p:spPr>
          <a:xfrm>
            <a:off x="8412480" y="420624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Nyilvántartások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8543" y="4342303"/>
            <a:ext cx="294803" cy="294803"/>
          </a:xfrm>
          <a:prstGeom prst="rect">
            <a:avLst/>
          </a:prstGeom>
        </p:spPr>
      </p:pic>
      <p:sp>
        <p:nvSpPr>
          <p:cNvPr id="31" name="Nyilvántartások cím"/>
          <p:cNvSpPr txBox="1"/>
          <p:nvPr/>
        </p:nvSpPr>
        <p:spPr>
          <a:xfrm>
            <a:off x="9144000" y="4160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Nyilvántartások</a:t>
            </a:r>
            <a:endParaRPr lang="en-US" sz="2000" dirty="0"/>
          </a:p>
        </p:txBody>
      </p:sp>
      <p:sp>
        <p:nvSpPr>
          <p:cNvPr id="32" name="Nyilvántartások leírás"/>
          <p:cNvSpPr txBox="1"/>
          <p:nvPr/>
        </p:nvSpPr>
        <p:spPr>
          <a:xfrm>
            <a:off x="8412480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Táblázat azonosítóval, helyszínnel, kategóriával, elérhetőséggel és műveleti gombokkal.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 nyilvántartás táblázata</a:t>
            </a:r>
            <a:endParaRPr lang="en-US" sz="3600" dirty="0"/>
          </a:p>
        </p:txBody>
      </p:sp>
      <p:graphicFrame>
        <p:nvGraphicFramePr>
          <p:cNvPr id="5" name="Nyilvántartás 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772400" cy="20116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Tárgy ID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Megnevezés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Tárolási helyszín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Kategória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Elérhetőség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#T-1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Fúrógép készlet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B-200 · 3. polc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Szerszámok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7D5B"/>
                          </a:solidFill>
                        </a:rPr>
                        <a:t>Raktáron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#T-2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Ethernet kábeltekercs (500m)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A-100 · 2. polc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Hálózat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F6510"/>
                          </a:solidFill>
                        </a:rPr>
                        <a:t>Lefoglalva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#T-3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Dokumentumkészlet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C-300 · 5. polc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Dokumentumok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452D"/>
                          </a:solidFill>
                        </a:rPr>
                        <a:t>Kiadva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áblázat felirat"/>
          <p:cNvSpPr txBox="1"/>
          <p:nvPr/>
        </p:nvSpPr>
        <p:spPr>
          <a:xfrm>
            <a:off x="54864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Példasorok a felületi tervből (sablonadatok)</a:t>
            </a:r>
            <a:endParaRPr lang="en-US" sz="1200" dirty="0"/>
          </a:p>
        </p:txBody>
      </p:sp>
      <p:sp>
        <p:nvSpPr>
          <p:cNvPr id="3" name="Mutatók cím"/>
          <p:cNvSpPr txBox="1"/>
          <p:nvPr/>
        </p:nvSpPr>
        <p:spPr>
          <a:xfrm>
            <a:off x="54864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Tárhelyek állapota – mutatók</a:t>
            </a:r>
            <a:endParaRPr lang="en-US" sz="2000" dirty="0"/>
          </a:p>
        </p:txBody>
      </p:sp>
      <p:sp>
        <p:nvSpPr>
          <p:cNvPr id="6" name="Mutató Összes létesítmény"/>
          <p:cNvSpPr/>
          <p:nvPr/>
        </p:nvSpPr>
        <p:spPr>
          <a:xfrm>
            <a:off x="548640" y="4572000"/>
            <a:ext cx="1417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Mutató érték 1"/>
          <p:cNvSpPr txBox="1"/>
          <p:nvPr/>
        </p:nvSpPr>
        <p:spPr>
          <a:xfrm>
            <a:off x="54864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—</a:t>
            </a:r>
            <a:endParaRPr lang="en-US" sz="2800" dirty="0"/>
          </a:p>
        </p:txBody>
      </p:sp>
      <p:sp>
        <p:nvSpPr>
          <p:cNvPr id="8" name="Mutató címke 1"/>
          <p:cNvSpPr txBox="1"/>
          <p:nvPr/>
        </p:nvSpPr>
        <p:spPr>
          <a:xfrm>
            <a:off x="640080" y="5074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Összes létesítmény</a:t>
            </a:r>
            <a:endParaRPr lang="en-US" sz="1200" dirty="0"/>
          </a:p>
        </p:txBody>
      </p:sp>
      <p:sp>
        <p:nvSpPr>
          <p:cNvPr id="9" name="Mutató Foglalt tárhelyek"/>
          <p:cNvSpPr/>
          <p:nvPr/>
        </p:nvSpPr>
        <p:spPr>
          <a:xfrm>
            <a:off x="2103120" y="4572000"/>
            <a:ext cx="1417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Mutató érték 2"/>
          <p:cNvSpPr txBox="1"/>
          <p:nvPr/>
        </p:nvSpPr>
        <p:spPr>
          <a:xfrm>
            <a:off x="210312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—</a:t>
            </a:r>
            <a:endParaRPr lang="en-US" sz="2800" dirty="0"/>
          </a:p>
        </p:txBody>
      </p:sp>
      <p:sp>
        <p:nvSpPr>
          <p:cNvPr id="11" name="Mutató címke 2"/>
          <p:cNvSpPr txBox="1"/>
          <p:nvPr/>
        </p:nvSpPr>
        <p:spPr>
          <a:xfrm>
            <a:off x="2194560" y="5074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Foglalt tárhelyek</a:t>
            </a:r>
            <a:endParaRPr lang="en-US" sz="1200" dirty="0"/>
          </a:p>
        </p:txBody>
      </p:sp>
      <p:sp>
        <p:nvSpPr>
          <p:cNvPr id="12" name="Mutató Szabad kapacitás"/>
          <p:cNvSpPr/>
          <p:nvPr/>
        </p:nvSpPr>
        <p:spPr>
          <a:xfrm>
            <a:off x="3657600" y="4572000"/>
            <a:ext cx="1417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Mutató érték 3"/>
          <p:cNvSpPr txBox="1"/>
          <p:nvPr/>
        </p:nvSpPr>
        <p:spPr>
          <a:xfrm>
            <a:off x="365760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—</a:t>
            </a:r>
            <a:endParaRPr lang="en-US" sz="2800" dirty="0"/>
          </a:p>
        </p:txBody>
      </p:sp>
      <p:sp>
        <p:nvSpPr>
          <p:cNvPr id="14" name="Mutató címke 3"/>
          <p:cNvSpPr txBox="1"/>
          <p:nvPr/>
        </p:nvSpPr>
        <p:spPr>
          <a:xfrm>
            <a:off x="3749040" y="5074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Szabad kapacitás</a:t>
            </a:r>
            <a:endParaRPr lang="en-US" sz="1200" dirty="0"/>
          </a:p>
        </p:txBody>
      </p:sp>
      <p:sp>
        <p:nvSpPr>
          <p:cNvPr id="15" name="Mutató Utolsó ellenőrzés"/>
          <p:cNvSpPr/>
          <p:nvPr/>
        </p:nvSpPr>
        <p:spPr>
          <a:xfrm>
            <a:off x="5212080" y="4572000"/>
            <a:ext cx="1417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Mutató érték 4"/>
          <p:cNvSpPr txBox="1"/>
          <p:nvPr/>
        </p:nvSpPr>
        <p:spPr>
          <a:xfrm>
            <a:off x="521208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—</a:t>
            </a:r>
            <a:endParaRPr lang="en-US" sz="2800" dirty="0"/>
          </a:p>
        </p:txBody>
      </p:sp>
      <p:sp>
        <p:nvSpPr>
          <p:cNvPr id="17" name="Mutató címke 4"/>
          <p:cNvSpPr txBox="1"/>
          <p:nvPr/>
        </p:nvSpPr>
        <p:spPr>
          <a:xfrm>
            <a:off x="5303520" y="5074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Utolsó ellenőrzés</a:t>
            </a:r>
            <a:endParaRPr lang="en-US" sz="1200" dirty="0"/>
          </a:p>
        </p:txBody>
      </p:sp>
      <p:sp>
        <p:nvSpPr>
          <p:cNvPr id="18" name="Mutató Adatbázis állapota"/>
          <p:cNvSpPr/>
          <p:nvPr/>
        </p:nvSpPr>
        <p:spPr>
          <a:xfrm>
            <a:off x="6766560" y="4572000"/>
            <a:ext cx="1417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Mutató érték 5"/>
          <p:cNvSpPr txBox="1"/>
          <p:nvPr/>
        </p:nvSpPr>
        <p:spPr>
          <a:xfrm>
            <a:off x="676656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—</a:t>
            </a:r>
            <a:endParaRPr lang="en-US" sz="2800" dirty="0"/>
          </a:p>
        </p:txBody>
      </p:sp>
      <p:sp>
        <p:nvSpPr>
          <p:cNvPr id="20" name="Mutató címke 5"/>
          <p:cNvSpPr txBox="1"/>
          <p:nvPr/>
        </p:nvSpPr>
        <p:spPr>
          <a:xfrm>
            <a:off x="6858000" y="5074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Adatbázis állapota</a:t>
            </a:r>
            <a:endParaRPr lang="en-US" sz="1200" dirty="0"/>
          </a:p>
        </p:txBody>
      </p:sp>
      <p:sp>
        <p:nvSpPr>
          <p:cNvPr id="21" name="Mutatók megjegyzés"/>
          <p:cNvSpPr txBox="1"/>
          <p:nvPr/>
        </p:nvSpPr>
        <p:spPr>
          <a:xfrm>
            <a:off x="548640" y="5806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Az értékek még üresek, az adatbázis bekötése után töltődnek fel.</a:t>
            </a:r>
            <a:endParaRPr lang="en-US" sz="1200" dirty="0"/>
          </a:p>
        </p:txBody>
      </p:sp>
      <p:sp>
        <p:nvSpPr>
          <p:cNvPr id="22" name="Jobb panel"/>
          <p:cNvSpPr/>
          <p:nvPr/>
        </p:nvSpPr>
        <p:spPr>
          <a:xfrm>
            <a:off x="8686800" y="1508760"/>
            <a:ext cx="2926080" cy="457200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Műveletek kör"/>
          <p:cNvSpPr/>
          <p:nvPr/>
        </p:nvSpPr>
        <p:spPr>
          <a:xfrm>
            <a:off x="8961120" y="178308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Művelete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183" y="1919143"/>
            <a:ext cx="294803" cy="294803"/>
          </a:xfrm>
          <a:prstGeom prst="rect">
            <a:avLst/>
          </a:prstGeom>
        </p:spPr>
      </p:pic>
      <p:sp>
        <p:nvSpPr>
          <p:cNvPr id="25" name="Műveletek cím"/>
          <p:cNvSpPr txBox="1"/>
          <p:nvPr/>
        </p:nvSpPr>
        <p:spPr>
          <a:xfrm>
            <a:off x="9692640" y="1783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Műveletek</a:t>
            </a:r>
            <a:endParaRPr lang="en-US" sz="2000" dirty="0"/>
          </a:p>
        </p:txBody>
      </p:sp>
      <p:sp>
        <p:nvSpPr>
          <p:cNvPr id="26" name="Műveletek leírás"/>
          <p:cNvSpPr txBox="1"/>
          <p:nvPr/>
        </p:nvSpPr>
        <p:spPr>
          <a:xfrm>
            <a:off x="8961120" y="25603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Minden soron Szerkesztés és Törlés gomb szerepel. Az elképzelés szerint ezeket csak manager vagy admin jogosultságú felhasználó látná.</a:t>
            </a:r>
            <a:endParaRPr lang="en-US" sz="1400" dirty="0"/>
          </a:p>
        </p:txBody>
      </p:sp>
      <p:sp>
        <p:nvSpPr>
          <p:cNvPr id="27" name="Státusz cím"/>
          <p:cNvSpPr txBox="1"/>
          <p:nvPr/>
        </p:nvSpPr>
        <p:spPr>
          <a:xfrm>
            <a:off x="8961120" y="4434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Elérhetőség státuszai</a:t>
            </a:r>
            <a:endParaRPr lang="en-US" sz="1600" dirty="0"/>
          </a:p>
        </p:txBody>
      </p:sp>
      <p:sp>
        <p:nvSpPr>
          <p:cNvPr id="28" name="Státusz jel 1"/>
          <p:cNvSpPr/>
          <p:nvPr/>
        </p:nvSpPr>
        <p:spPr>
          <a:xfrm>
            <a:off x="8961120" y="4956048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tátusz 1"/>
          <p:cNvSpPr txBox="1"/>
          <p:nvPr/>
        </p:nvSpPr>
        <p:spPr>
          <a:xfrm>
            <a:off x="9281160" y="4892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Raktáron</a:t>
            </a:r>
            <a:endParaRPr lang="en-US" sz="1400" dirty="0"/>
          </a:p>
        </p:txBody>
      </p:sp>
      <p:sp>
        <p:nvSpPr>
          <p:cNvPr id="30" name="Státusz jel 2"/>
          <p:cNvSpPr/>
          <p:nvPr/>
        </p:nvSpPr>
        <p:spPr>
          <a:xfrm>
            <a:off x="8961120" y="53218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tátusz 2"/>
          <p:cNvSpPr txBox="1"/>
          <p:nvPr/>
        </p:nvSpPr>
        <p:spPr>
          <a:xfrm>
            <a:off x="9281160" y="5257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Lefoglalva</a:t>
            </a:r>
            <a:endParaRPr lang="en-US" sz="1400" dirty="0"/>
          </a:p>
        </p:txBody>
      </p:sp>
      <p:sp>
        <p:nvSpPr>
          <p:cNvPr id="32" name="Státusz jel 3"/>
          <p:cNvSpPr/>
          <p:nvPr/>
        </p:nvSpPr>
        <p:spPr>
          <a:xfrm>
            <a:off x="8961120" y="5687568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tátusz 3"/>
          <p:cNvSpPr txBox="1"/>
          <p:nvPr/>
        </p:nvSpPr>
        <p:spPr>
          <a:xfrm>
            <a:off x="9281160" y="56235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Kiadva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Architektúra</a:t>
            </a:r>
            <a:endParaRPr lang="en-US" sz="3600" dirty="0"/>
          </a:p>
        </p:txBody>
      </p:sp>
      <p:sp>
        <p:nvSpPr>
          <p:cNvPr id="3" name="Csomópont Böngésző"/>
          <p:cNvSpPr/>
          <p:nvPr/>
        </p:nvSpPr>
        <p:spPr>
          <a:xfrm>
            <a:off x="548640" y="1554480"/>
            <a:ext cx="21031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Böngésző kör"/>
          <p:cNvSpPr/>
          <p:nvPr/>
        </p:nvSpPr>
        <p:spPr>
          <a:xfrm>
            <a:off x="1280160" y="17373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Böngésző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779" y="1890979"/>
            <a:ext cx="332842" cy="332842"/>
          </a:xfrm>
          <a:prstGeom prst="rect">
            <a:avLst/>
          </a:prstGeom>
        </p:spPr>
      </p:pic>
      <p:sp>
        <p:nvSpPr>
          <p:cNvPr id="6" name="Böngésző cím"/>
          <p:cNvSpPr txBox="1"/>
          <p:nvPr/>
        </p:nvSpPr>
        <p:spPr>
          <a:xfrm>
            <a:off x="6400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Böngésző</a:t>
            </a:r>
            <a:endParaRPr lang="en-US" sz="1800" dirty="0"/>
          </a:p>
        </p:txBody>
      </p:sp>
      <p:sp>
        <p:nvSpPr>
          <p:cNvPr id="7" name="Böngésző leírás"/>
          <p:cNvSpPr txBox="1"/>
          <p:nvPr/>
        </p:nvSpPr>
        <p:spPr>
          <a:xfrm>
            <a:off x="685800" y="2880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Vue komponens (RealRaktar.vue)</a:t>
            </a:r>
            <a:endParaRPr lang="en-US" sz="1200" dirty="0"/>
          </a:p>
        </p:txBody>
      </p:sp>
      <p:sp>
        <p:nvSpPr>
          <p:cNvPr id="8" name="Csomópont Vite szerver"/>
          <p:cNvSpPr/>
          <p:nvPr/>
        </p:nvSpPr>
        <p:spPr>
          <a:xfrm>
            <a:off x="3566160" y="1554480"/>
            <a:ext cx="21031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Vite szerver kör"/>
          <p:cNvSpPr/>
          <p:nvPr/>
        </p:nvSpPr>
        <p:spPr>
          <a:xfrm>
            <a:off x="4297680" y="17373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Vite szerve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299" y="1890979"/>
            <a:ext cx="332842" cy="332842"/>
          </a:xfrm>
          <a:prstGeom prst="rect">
            <a:avLst/>
          </a:prstGeom>
        </p:spPr>
      </p:pic>
      <p:sp>
        <p:nvSpPr>
          <p:cNvPr id="11" name="Vite szerver cím"/>
          <p:cNvSpPr txBox="1"/>
          <p:nvPr/>
        </p:nvSpPr>
        <p:spPr>
          <a:xfrm>
            <a:off x="365760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Vite szerver</a:t>
            </a:r>
            <a:endParaRPr lang="en-US" sz="1800" dirty="0"/>
          </a:p>
        </p:txBody>
      </p:sp>
      <p:sp>
        <p:nvSpPr>
          <p:cNvPr id="12" name="Vite szerver leírás"/>
          <p:cNvSpPr txBox="1"/>
          <p:nvPr/>
        </p:nvSpPr>
        <p:spPr>
          <a:xfrm>
            <a:off x="3703320" y="2880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/api kérések továbbítása (proxy)</a:t>
            </a:r>
            <a:endParaRPr lang="en-US" sz="1200" dirty="0"/>
          </a:p>
        </p:txBody>
      </p:sp>
      <p:sp>
        <p:nvSpPr>
          <p:cNvPr id="13" name="Csomópont Express szerver"/>
          <p:cNvSpPr/>
          <p:nvPr/>
        </p:nvSpPr>
        <p:spPr>
          <a:xfrm>
            <a:off x="6583680" y="1554480"/>
            <a:ext cx="21031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Express szerver kör"/>
          <p:cNvSpPr/>
          <p:nvPr/>
        </p:nvSpPr>
        <p:spPr>
          <a:xfrm>
            <a:off x="731520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Express szerver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819" y="1890979"/>
            <a:ext cx="332842" cy="332842"/>
          </a:xfrm>
          <a:prstGeom prst="rect">
            <a:avLst/>
          </a:prstGeom>
        </p:spPr>
      </p:pic>
      <p:sp>
        <p:nvSpPr>
          <p:cNvPr id="16" name="Express szerver cím"/>
          <p:cNvSpPr txBox="1"/>
          <p:nvPr/>
        </p:nvSpPr>
        <p:spPr>
          <a:xfrm>
            <a:off x="667512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Express szerver</a:t>
            </a:r>
            <a:endParaRPr lang="en-US" sz="1800" dirty="0"/>
          </a:p>
        </p:txBody>
      </p:sp>
      <p:sp>
        <p:nvSpPr>
          <p:cNvPr id="17" name="Express szerver leírás"/>
          <p:cNvSpPr txBox="1"/>
          <p:nvPr/>
        </p:nvSpPr>
        <p:spPr>
          <a:xfrm>
            <a:off x="6720840" y="2880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server/server.js, 3000-es port</a:t>
            </a:r>
            <a:endParaRPr lang="en-US" sz="1200" dirty="0"/>
          </a:p>
        </p:txBody>
      </p:sp>
      <p:sp>
        <p:nvSpPr>
          <p:cNvPr id="18" name="Csomópont SQLite adatbázis"/>
          <p:cNvSpPr/>
          <p:nvPr/>
        </p:nvSpPr>
        <p:spPr>
          <a:xfrm>
            <a:off x="9601200" y="1554480"/>
            <a:ext cx="21031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QLite adatbázis kör"/>
          <p:cNvSpPr/>
          <p:nvPr/>
        </p:nvSpPr>
        <p:spPr>
          <a:xfrm>
            <a:off x="10332720" y="1737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SQLite adatbázis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6339" y="1890979"/>
            <a:ext cx="332842" cy="332842"/>
          </a:xfrm>
          <a:prstGeom prst="rect">
            <a:avLst/>
          </a:prstGeom>
        </p:spPr>
      </p:pic>
      <p:sp>
        <p:nvSpPr>
          <p:cNvPr id="21" name="SQLite adatbázis cím"/>
          <p:cNvSpPr txBox="1"/>
          <p:nvPr/>
        </p:nvSpPr>
        <p:spPr>
          <a:xfrm>
            <a:off x="96926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SQLite adatbázis</a:t>
            </a:r>
            <a:endParaRPr lang="en-US" sz="1800" dirty="0"/>
          </a:p>
        </p:txBody>
      </p:sp>
      <p:sp>
        <p:nvSpPr>
          <p:cNvPr id="22" name="SQLite adatbázis leírás"/>
          <p:cNvSpPr txBox="1"/>
          <p:nvPr/>
        </p:nvSpPr>
        <p:spPr>
          <a:xfrm>
            <a:off x="9738360" y="2880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database/app.db, server/db.js</a:t>
            </a:r>
            <a:endParaRPr lang="en-US" sz="1200" dirty="0"/>
          </a:p>
        </p:txBody>
      </p:sp>
      <p:sp>
        <p:nvSpPr>
          <p:cNvPr id="23" name="Nyíl 1"/>
          <p:cNvSpPr/>
          <p:nvPr/>
        </p:nvSpPr>
        <p:spPr>
          <a:xfrm>
            <a:off x="2697480" y="2560320"/>
            <a:ext cx="82296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Nyíl felirat 1"/>
          <p:cNvSpPr txBox="1"/>
          <p:nvPr/>
        </p:nvSpPr>
        <p:spPr>
          <a:xfrm>
            <a:off x="265176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fetch</a:t>
            </a:r>
            <a:endParaRPr lang="en-US" sz="1200" dirty="0"/>
          </a:p>
        </p:txBody>
      </p:sp>
      <p:sp>
        <p:nvSpPr>
          <p:cNvPr id="25" name="Nyíl 2"/>
          <p:cNvSpPr/>
          <p:nvPr/>
        </p:nvSpPr>
        <p:spPr>
          <a:xfrm>
            <a:off x="5715000" y="2560320"/>
            <a:ext cx="82296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Nyíl felirat 2"/>
          <p:cNvSpPr txBox="1"/>
          <p:nvPr/>
        </p:nvSpPr>
        <p:spPr>
          <a:xfrm>
            <a:off x="566928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proxy</a:t>
            </a:r>
            <a:endParaRPr lang="en-US" sz="1200" dirty="0"/>
          </a:p>
        </p:txBody>
      </p:sp>
      <p:sp>
        <p:nvSpPr>
          <p:cNvPr id="27" name="Nyíl 3"/>
          <p:cNvSpPr/>
          <p:nvPr/>
        </p:nvSpPr>
        <p:spPr>
          <a:xfrm>
            <a:off x="8732520" y="2560320"/>
            <a:ext cx="82296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Nyíl felirat 3"/>
          <p:cNvSpPr txBox="1"/>
          <p:nvPr/>
        </p:nvSpPr>
        <p:spPr>
          <a:xfrm>
            <a:off x="86868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tervezett</a:t>
            </a:r>
            <a:endParaRPr lang="en-US" sz="1200" dirty="0"/>
          </a:p>
        </p:txBody>
      </p:sp>
      <p:sp>
        <p:nvSpPr>
          <p:cNvPr id="29" name="Megjegyzés Fejlesztés közben"/>
          <p:cNvSpPr/>
          <p:nvPr/>
        </p:nvSpPr>
        <p:spPr>
          <a:xfrm>
            <a:off x="548640" y="393192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Fejlesztés közben cím"/>
          <p:cNvSpPr txBox="1"/>
          <p:nvPr/>
        </p:nvSpPr>
        <p:spPr>
          <a:xfrm>
            <a:off x="82296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Fejlesztés közben</a:t>
            </a:r>
            <a:endParaRPr lang="en-US" sz="1800" dirty="0"/>
          </a:p>
        </p:txBody>
      </p:sp>
      <p:sp>
        <p:nvSpPr>
          <p:cNvPr id="31" name="Fejlesztés közben leírás"/>
          <p:cNvSpPr txBox="1"/>
          <p:nvPr/>
        </p:nvSpPr>
        <p:spPr>
          <a:xfrm>
            <a:off x="822960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Vite az /api útvonalat a localhost:3000-es Express szerverre irányítja át.</a:t>
            </a:r>
            <a:endParaRPr lang="en-US" sz="1400" dirty="0"/>
          </a:p>
        </p:txBody>
      </p:sp>
      <p:sp>
        <p:nvSpPr>
          <p:cNvPr id="32" name="Megjegyzés Egy paranccsal"/>
          <p:cNvSpPr/>
          <p:nvPr/>
        </p:nvSpPr>
        <p:spPr>
          <a:xfrm>
            <a:off x="4297680" y="393192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Egy paranccsal cím"/>
          <p:cNvSpPr txBox="1"/>
          <p:nvPr/>
        </p:nvSpPr>
        <p:spPr>
          <a:xfrm>
            <a:off x="457200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Egy paranccsal</a:t>
            </a:r>
            <a:endParaRPr lang="en-US" sz="1800" dirty="0"/>
          </a:p>
        </p:txBody>
      </p:sp>
      <p:sp>
        <p:nvSpPr>
          <p:cNvPr id="34" name="Egy paranccsal leírás"/>
          <p:cNvSpPr txBox="1"/>
          <p:nvPr/>
        </p:nvSpPr>
        <p:spPr>
          <a:xfrm>
            <a:off x="4572000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Az npm start a szervert (nodemon) és a Vite-ot (concurrently) egyszerre indítja.</a:t>
            </a:r>
            <a:endParaRPr lang="en-US" sz="1400" dirty="0"/>
          </a:p>
        </p:txBody>
      </p:sp>
      <p:sp>
        <p:nvSpPr>
          <p:cNvPr id="35" name="Megjegyzés Külön rétegek"/>
          <p:cNvSpPr/>
          <p:nvPr/>
        </p:nvSpPr>
        <p:spPr>
          <a:xfrm>
            <a:off x="8046720" y="393192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Külön rétegek cím"/>
          <p:cNvSpPr txBox="1"/>
          <p:nvPr/>
        </p:nvSpPr>
        <p:spPr>
          <a:xfrm>
            <a:off x="832104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Külön rétegek</a:t>
            </a:r>
            <a:endParaRPr lang="en-US" sz="1800" dirty="0"/>
          </a:p>
        </p:txBody>
      </p:sp>
      <p:sp>
        <p:nvSpPr>
          <p:cNvPr id="37" name="Külön rétegek leírás"/>
          <p:cNvSpPr txBox="1"/>
          <p:nvPr/>
        </p:nvSpPr>
        <p:spPr>
          <a:xfrm>
            <a:off x="8321040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Felület, API és adatréteg külön mappában: src/, server/ és database/.</a:t>
            </a:r>
            <a:endParaRPr lang="en-US" sz="1400" dirty="0"/>
          </a:p>
        </p:txBody>
      </p:sp>
      <p:sp>
        <p:nvSpPr>
          <p:cNvPr id="38" name="Jelmagyarázat folytonos"/>
          <p:cNvSpPr/>
          <p:nvPr/>
        </p:nvSpPr>
        <p:spPr>
          <a:xfrm>
            <a:off x="548640" y="598932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Jelmagyarázat folytonos felirat"/>
          <p:cNvSpPr txBox="1"/>
          <p:nvPr/>
        </p:nvSpPr>
        <p:spPr>
          <a:xfrm>
            <a:off x="1188720" y="5852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működő kapcsolat</a:t>
            </a:r>
            <a:endParaRPr lang="en-US" sz="1200" dirty="0"/>
          </a:p>
        </p:txBody>
      </p:sp>
      <p:sp>
        <p:nvSpPr>
          <p:cNvPr id="40" name="Jelmagyarázat szaggatott"/>
          <p:cNvSpPr/>
          <p:nvPr/>
        </p:nvSpPr>
        <p:spPr>
          <a:xfrm>
            <a:off x="3383280" y="598932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Jelmagyarázat szaggatott felirat"/>
          <p:cNvSpPr txBox="1"/>
          <p:nvPr/>
        </p:nvSpPr>
        <p:spPr>
          <a:xfrm>
            <a:off x="4023360" y="5852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előkészítve (db.js és app.db még üres)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Technológiai stack</a:t>
            </a:r>
            <a:endParaRPr lang="en-US" sz="3600" dirty="0"/>
          </a:p>
        </p:txBody>
      </p:sp>
      <p:sp>
        <p:nvSpPr>
          <p:cNvPr id="3" name="Kártya Frontend"/>
          <p:cNvSpPr/>
          <p:nvPr/>
        </p:nvSpPr>
        <p:spPr>
          <a:xfrm>
            <a:off x="548640" y="1508760"/>
            <a:ext cx="2606040" cy="42976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Frontend kör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Fronten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47672"/>
            <a:ext cx="356616" cy="356616"/>
          </a:xfrm>
          <a:prstGeom prst="rect">
            <a:avLst/>
          </a:prstGeom>
        </p:spPr>
      </p:pic>
      <p:sp>
        <p:nvSpPr>
          <p:cNvPr id="6" name="Frontend cím"/>
          <p:cNvSpPr txBox="1"/>
          <p:nvPr/>
        </p:nvSpPr>
        <p:spPr>
          <a:xfrm>
            <a:off x="82296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Frontend</a:t>
            </a:r>
            <a:endParaRPr lang="en-US" sz="2200" dirty="0"/>
          </a:p>
        </p:txBody>
      </p:sp>
      <p:sp>
        <p:nvSpPr>
          <p:cNvPr id="7" name="Frontend lista"/>
          <p:cNvSpPr txBox="1"/>
          <p:nvPr/>
        </p:nvSpPr>
        <p:spPr>
          <a:xfrm>
            <a:off x="822960" y="329184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Vue (rc kiadás)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Vite 8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@vitejs/plugin-vue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Vue DevTools bővítmény</a:t>
            </a:r>
            <a:endParaRPr lang="en-US" sz="1600" dirty="0"/>
          </a:p>
        </p:txBody>
      </p:sp>
      <p:sp>
        <p:nvSpPr>
          <p:cNvPr id="8" name="Kártya Backend"/>
          <p:cNvSpPr/>
          <p:nvPr/>
        </p:nvSpPr>
        <p:spPr>
          <a:xfrm>
            <a:off x="3364992" y="1508760"/>
            <a:ext cx="2606040" cy="42976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Backend kör"/>
          <p:cNvSpPr/>
          <p:nvPr/>
        </p:nvSpPr>
        <p:spPr>
          <a:xfrm>
            <a:off x="3639312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Backend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1947672"/>
            <a:ext cx="356616" cy="356616"/>
          </a:xfrm>
          <a:prstGeom prst="rect">
            <a:avLst/>
          </a:prstGeom>
        </p:spPr>
      </p:pic>
      <p:sp>
        <p:nvSpPr>
          <p:cNvPr id="11" name="Backend cím"/>
          <p:cNvSpPr txBox="1"/>
          <p:nvPr/>
        </p:nvSpPr>
        <p:spPr>
          <a:xfrm>
            <a:off x="3639312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Backend</a:t>
            </a:r>
            <a:endParaRPr lang="en-US" sz="2200" dirty="0"/>
          </a:p>
        </p:txBody>
      </p:sp>
      <p:sp>
        <p:nvSpPr>
          <p:cNvPr id="12" name="Backend lista"/>
          <p:cNvSpPr txBox="1"/>
          <p:nvPr/>
        </p:nvSpPr>
        <p:spPr>
          <a:xfrm>
            <a:off x="3639312" y="329184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Node.js ^22.18 vagy ≥ 24.12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Express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nodemon (újraindítás módosításkor)</a:t>
            </a:r>
            <a:endParaRPr lang="en-US" sz="1600" dirty="0"/>
          </a:p>
        </p:txBody>
      </p:sp>
      <p:sp>
        <p:nvSpPr>
          <p:cNvPr id="13" name="Kártya Adatbázis"/>
          <p:cNvSpPr/>
          <p:nvPr/>
        </p:nvSpPr>
        <p:spPr>
          <a:xfrm>
            <a:off x="6181344" y="1508760"/>
            <a:ext cx="2606040" cy="42976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Adatbázis kör"/>
          <p:cNvSpPr/>
          <p:nvPr/>
        </p:nvSpPr>
        <p:spPr>
          <a:xfrm>
            <a:off x="6455664" y="1783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Adatbázis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1947672"/>
            <a:ext cx="356616" cy="356616"/>
          </a:xfrm>
          <a:prstGeom prst="rect">
            <a:avLst/>
          </a:prstGeom>
        </p:spPr>
      </p:pic>
      <p:sp>
        <p:nvSpPr>
          <p:cNvPr id="16" name="Adatbázis cím"/>
          <p:cNvSpPr txBox="1"/>
          <p:nvPr/>
        </p:nvSpPr>
        <p:spPr>
          <a:xfrm>
            <a:off x="6455664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Adatbázis</a:t>
            </a:r>
            <a:endParaRPr lang="en-US" sz="2200" dirty="0"/>
          </a:p>
        </p:txBody>
      </p:sp>
      <p:sp>
        <p:nvSpPr>
          <p:cNvPr id="17" name="Adatbázis lista"/>
          <p:cNvSpPr txBox="1"/>
          <p:nvPr/>
        </p:nvSpPr>
        <p:spPr>
          <a:xfrm>
            <a:off x="6455664" y="329184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SQLite (database/app.db)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Séma Dia-ban tervezve (v0.5, v0.6)</a:t>
            </a:r>
            <a:endParaRPr lang="en-US" sz="1600" dirty="0"/>
          </a:p>
        </p:txBody>
      </p:sp>
      <p:sp>
        <p:nvSpPr>
          <p:cNvPr id="18" name="Kártya Fejlesztés"/>
          <p:cNvSpPr/>
          <p:nvPr/>
        </p:nvSpPr>
        <p:spPr>
          <a:xfrm>
            <a:off x="8997696" y="1508760"/>
            <a:ext cx="2606040" cy="42976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Fejlesztés kör"/>
          <p:cNvSpPr/>
          <p:nvPr/>
        </p:nvSpPr>
        <p:spPr>
          <a:xfrm>
            <a:off x="9272016" y="17830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Fejlesztés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1947672"/>
            <a:ext cx="356616" cy="356616"/>
          </a:xfrm>
          <a:prstGeom prst="rect">
            <a:avLst/>
          </a:prstGeom>
        </p:spPr>
      </p:pic>
      <p:sp>
        <p:nvSpPr>
          <p:cNvPr id="21" name="Fejlesztés cím"/>
          <p:cNvSpPr txBox="1"/>
          <p:nvPr/>
        </p:nvSpPr>
        <p:spPr>
          <a:xfrm>
            <a:off x="9272016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Fejlesztés</a:t>
            </a:r>
            <a:endParaRPr lang="en-US" sz="2200" dirty="0"/>
          </a:p>
        </p:txBody>
      </p:sp>
      <p:sp>
        <p:nvSpPr>
          <p:cNvPr id="22" name="Fejlesztés lista"/>
          <p:cNvSpPr txBox="1"/>
          <p:nvPr/>
        </p:nvSpPr>
        <p:spPr>
          <a:xfrm>
            <a:off x="9272016" y="329184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concurrently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npm scriptek: dev, server, start, build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@ alias a src mappára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Backend és futtatás</a:t>
            </a:r>
            <a:endParaRPr lang="en-US" sz="3600" dirty="0"/>
          </a:p>
        </p:txBody>
      </p:sp>
      <p:sp>
        <p:nvSpPr>
          <p:cNvPr id="3" name="Végpont GET /api/health"/>
          <p:cNvSpPr/>
          <p:nvPr/>
        </p:nvSpPr>
        <p:spPr>
          <a:xfrm>
            <a:off x="548640" y="1508760"/>
            <a:ext cx="56692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Végpont 1"/>
          <p:cNvSpPr txBox="1"/>
          <p:nvPr/>
        </p:nvSpPr>
        <p:spPr>
          <a:xfrm>
            <a:off x="82296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/api/health</a:t>
            </a:r>
            <a:endParaRPr lang="en-US" sz="2000" dirty="0"/>
          </a:p>
        </p:txBody>
      </p:sp>
      <p:sp>
        <p:nvSpPr>
          <p:cNvPr id="5" name="Válasz 1"/>
          <p:cNvSpPr txBox="1"/>
          <p:nvPr/>
        </p:nvSpPr>
        <p:spPr>
          <a:xfrm>
            <a:off x="82296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ok: true }</a:t>
            </a:r>
            <a:endParaRPr lang="en-US" sz="1400" dirty="0"/>
          </a:p>
        </p:txBody>
      </p:sp>
      <p:sp>
        <p:nvSpPr>
          <p:cNvPr id="6" name="Végpont leírás 1"/>
          <p:cNvSpPr txBox="1"/>
          <p:nvPr/>
        </p:nvSpPr>
        <p:spPr>
          <a:xfrm>
            <a:off x="822960" y="2514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Állapot-ellenőrzés a szerverről.</a:t>
            </a:r>
            <a:endParaRPr lang="en-US" sz="1400" dirty="0"/>
          </a:p>
        </p:txBody>
      </p:sp>
      <p:sp>
        <p:nvSpPr>
          <p:cNvPr id="7" name="Végpont GET /api/message"/>
          <p:cNvSpPr/>
          <p:nvPr/>
        </p:nvSpPr>
        <p:spPr>
          <a:xfrm>
            <a:off x="548640" y="3200400"/>
            <a:ext cx="566928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Végpont 2"/>
          <p:cNvSpPr txBox="1"/>
          <p:nvPr/>
        </p:nvSpPr>
        <p:spPr>
          <a:xfrm>
            <a:off x="822960" y="3383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/api/message</a:t>
            </a:r>
            <a:endParaRPr lang="en-US" sz="2000" dirty="0"/>
          </a:p>
        </p:txBody>
      </p:sp>
      <p:sp>
        <p:nvSpPr>
          <p:cNvPr id="9" name="Válasz 2"/>
          <p:cNvSpPr txBox="1"/>
          <p:nvPr/>
        </p:nvSpPr>
        <p:spPr>
          <a:xfrm>
            <a:off x="82296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message, time }</a:t>
            </a:r>
            <a:endParaRPr lang="en-US" sz="1400" dirty="0"/>
          </a:p>
        </p:txBody>
      </p:sp>
      <p:sp>
        <p:nvSpPr>
          <p:cNvPr id="10" name="Végpont leírás 2"/>
          <p:cNvSpPr txBox="1"/>
          <p:nvPr/>
        </p:nvSpPr>
        <p:spPr>
          <a:xfrm>
            <a:off x="82296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Üzenet és a szerver ISO formátumú ideje.</a:t>
            </a:r>
            <a:endParaRPr lang="en-US" sz="1400" dirty="0"/>
          </a:p>
        </p:txBody>
      </p:sp>
      <p:sp>
        <p:nvSpPr>
          <p:cNvPr id="11" name="Kapcsolat megjegyzés"/>
          <p:cNvSpPr txBox="1"/>
          <p:nvPr/>
        </p:nvSpPr>
        <p:spPr>
          <a:xfrm>
            <a:off x="548640" y="4983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Regisztráció gomb a /api/message végpontot hívja meg, és a választ felugró ablakban mutatja – így igazolható a felület és a szerver kapcsolata.</a:t>
            </a:r>
            <a:endParaRPr lang="en-US" sz="1400" dirty="0"/>
          </a:p>
        </p:txBody>
      </p:sp>
      <p:sp>
        <p:nvSpPr>
          <p:cNvPr id="12" name="Terminál"/>
          <p:cNvSpPr/>
          <p:nvPr/>
        </p:nvSpPr>
        <p:spPr>
          <a:xfrm>
            <a:off x="6583680" y="1508760"/>
            <a:ext cx="5029200" cy="32004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rminál kör"/>
          <p:cNvSpPr/>
          <p:nvPr/>
        </p:nvSpPr>
        <p:spPr>
          <a:xfrm>
            <a:off x="6858000" y="17373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Terminál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847088"/>
            <a:ext cx="237744" cy="237744"/>
          </a:xfrm>
          <a:prstGeom prst="rect">
            <a:avLst/>
          </a:prstGeom>
        </p:spPr>
      </p:pic>
      <p:sp>
        <p:nvSpPr>
          <p:cNvPr id="15" name="Terminál cím"/>
          <p:cNvSpPr txBox="1"/>
          <p:nvPr/>
        </p:nvSpPr>
        <p:spPr>
          <a:xfrm>
            <a:off x="7452360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Parancsok a vue-project mappában</a:t>
            </a:r>
            <a:endParaRPr lang="en-US" sz="1400" dirty="0"/>
          </a:p>
        </p:txBody>
      </p:sp>
      <p:sp>
        <p:nvSpPr>
          <p:cNvPr id="16" name="Parancsok"/>
          <p:cNvSpPr txBox="1"/>
          <p:nvPr/>
        </p:nvSpPr>
        <p:spPr>
          <a:xfrm>
            <a:off x="6858000" y="2468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Vite (frontend)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server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Express + nodemon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mindkettő egyszerre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éles build (Vite)</a:t>
            </a:r>
            <a:endParaRPr lang="en-US" sz="1400" dirty="0"/>
          </a:p>
        </p:txBody>
      </p:sp>
      <p:sp>
        <p:nvSpPr>
          <p:cNvPr id="17" name="Node megjegyzés"/>
          <p:cNvSpPr/>
          <p:nvPr/>
        </p:nvSpPr>
        <p:spPr>
          <a:xfrm>
            <a:off x="6583680" y="4983480"/>
            <a:ext cx="5029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Node megjegyzés szöveg"/>
          <p:cNvSpPr txBox="1"/>
          <p:nvPr/>
        </p:nvSpPr>
        <p:spPr>
          <a:xfrm>
            <a:off x="6858000" y="49834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Szükséges Node.js verzió: ^22.18.0 vagy ≥ 24.12.0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Adatmodell (v0.6)</a:t>
            </a:r>
            <a:endParaRPr lang="en-US" sz="3600" dirty="0"/>
          </a:p>
        </p:txBody>
      </p:sp>
      <p:sp>
        <p:nvSpPr>
          <p:cNvPr id="3" name="Csoport Felhasználók"/>
          <p:cNvSpPr txBox="1"/>
          <p:nvPr/>
        </p:nvSpPr>
        <p:spPr>
          <a:xfrm>
            <a:off x="54864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Felhasználók</a:t>
            </a:r>
            <a:endParaRPr lang="en-US" sz="1600" dirty="0"/>
          </a:p>
        </p:txBody>
      </p:sp>
      <p:sp>
        <p:nvSpPr>
          <p:cNvPr id="4" name="Tábla fejléc users"/>
          <p:cNvSpPr/>
          <p:nvPr/>
        </p:nvSpPr>
        <p:spPr>
          <a:xfrm>
            <a:off x="548640" y="1874520"/>
            <a:ext cx="2103120" cy="3291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ábla név users"/>
          <p:cNvSpPr txBox="1"/>
          <p:nvPr/>
        </p:nvSpPr>
        <p:spPr>
          <a:xfrm>
            <a:off x="658368" y="18745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users</a:t>
            </a:r>
            <a:endParaRPr lang="en-US" sz="1400" dirty="0"/>
          </a:p>
        </p:txBody>
      </p:sp>
      <p:sp>
        <p:nvSpPr>
          <p:cNvPr id="6" name="Tábla törzs users"/>
          <p:cNvSpPr/>
          <p:nvPr/>
        </p:nvSpPr>
        <p:spPr>
          <a:xfrm>
            <a:off x="548640" y="2203704"/>
            <a:ext cx="2103120" cy="9144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Mezők users"/>
          <p:cNvSpPr txBox="1"/>
          <p:nvPr/>
        </p:nvSpPr>
        <p:spPr>
          <a:xfrm>
            <a:off x="658368" y="2276856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varchar[30]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varchar[30]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accesslevel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100" dirty="0"/>
          </a:p>
        </p:txBody>
      </p:sp>
      <p:sp>
        <p:nvSpPr>
          <p:cNvPr id="8" name="Tábla fejléc permissions"/>
          <p:cNvSpPr/>
          <p:nvPr/>
        </p:nvSpPr>
        <p:spPr>
          <a:xfrm>
            <a:off x="548640" y="3300984"/>
            <a:ext cx="2103120" cy="3291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ábla név permissions"/>
          <p:cNvSpPr txBox="1"/>
          <p:nvPr/>
        </p:nvSpPr>
        <p:spPr>
          <a:xfrm>
            <a:off x="658368" y="33009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permissions</a:t>
            </a:r>
            <a:endParaRPr lang="en-US" sz="1400" dirty="0"/>
          </a:p>
        </p:txBody>
      </p:sp>
      <p:sp>
        <p:nvSpPr>
          <p:cNvPr id="10" name="Tábla törzs permissions"/>
          <p:cNvSpPr/>
          <p:nvPr/>
        </p:nvSpPr>
        <p:spPr>
          <a:xfrm>
            <a:off x="548640" y="3630168"/>
            <a:ext cx="2103120" cy="530352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Mezők permissions"/>
          <p:cNvSpPr txBox="1"/>
          <p:nvPr/>
        </p:nvSpPr>
        <p:spPr>
          <a:xfrm>
            <a:off x="658368" y="37033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accesslevel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varchar[15]</a:t>
            </a:r>
            <a:endParaRPr lang="en-US" sz="1100" dirty="0"/>
          </a:p>
        </p:txBody>
      </p:sp>
      <p:sp>
        <p:nvSpPr>
          <p:cNvPr id="12" name="Csoport Napló, munkamenet"/>
          <p:cNvSpPr txBox="1"/>
          <p:nvPr/>
        </p:nvSpPr>
        <p:spPr>
          <a:xfrm>
            <a:off x="278892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Napló, munkamenet</a:t>
            </a:r>
            <a:endParaRPr lang="en-US" sz="1600" dirty="0"/>
          </a:p>
        </p:txBody>
      </p:sp>
      <p:sp>
        <p:nvSpPr>
          <p:cNvPr id="13" name="Tábla fejléc actionlog"/>
          <p:cNvSpPr/>
          <p:nvPr/>
        </p:nvSpPr>
        <p:spPr>
          <a:xfrm>
            <a:off x="2788920" y="1874520"/>
            <a:ext cx="2103120" cy="3291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ábla név actionlog"/>
          <p:cNvSpPr txBox="1"/>
          <p:nvPr/>
        </p:nvSpPr>
        <p:spPr>
          <a:xfrm>
            <a:off x="2898648" y="18745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actionlog</a:t>
            </a:r>
            <a:endParaRPr lang="en-US" sz="1400" dirty="0"/>
          </a:p>
        </p:txBody>
      </p:sp>
      <p:sp>
        <p:nvSpPr>
          <p:cNvPr id="15" name="Tábla törzs actionlog"/>
          <p:cNvSpPr/>
          <p:nvPr/>
        </p:nvSpPr>
        <p:spPr>
          <a:xfrm>
            <a:off x="2788920" y="2203704"/>
            <a:ext cx="2103120" cy="129844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Mezők actionlog"/>
          <p:cNvSpPr txBox="1"/>
          <p:nvPr/>
        </p:nvSpPr>
        <p:spPr>
          <a:xfrm>
            <a:off x="2898648" y="2276856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varchar[64]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varchar[6]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varchar[64]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datetime2</a:t>
            </a:r>
            <a:endParaRPr lang="en-US" sz="1100" dirty="0"/>
          </a:p>
        </p:txBody>
      </p:sp>
      <p:sp>
        <p:nvSpPr>
          <p:cNvPr id="17" name="Tábla fejléc active"/>
          <p:cNvSpPr/>
          <p:nvPr/>
        </p:nvSpPr>
        <p:spPr>
          <a:xfrm>
            <a:off x="2788920" y="3685032"/>
            <a:ext cx="2103120" cy="3291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ábla név active"/>
          <p:cNvSpPr txBox="1"/>
          <p:nvPr/>
        </p:nvSpPr>
        <p:spPr>
          <a:xfrm>
            <a:off x="2898648" y="3685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active</a:t>
            </a:r>
            <a:endParaRPr lang="en-US" sz="1400" dirty="0"/>
          </a:p>
        </p:txBody>
      </p:sp>
      <p:sp>
        <p:nvSpPr>
          <p:cNvPr id="19" name="Tábla törzs active"/>
          <p:cNvSpPr/>
          <p:nvPr/>
        </p:nvSpPr>
        <p:spPr>
          <a:xfrm>
            <a:off x="2788920" y="4014216"/>
            <a:ext cx="2103120" cy="72237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Mezők active"/>
          <p:cNvSpPr txBox="1"/>
          <p:nvPr/>
        </p:nvSpPr>
        <p:spPr>
          <a:xfrm>
            <a:off x="2898648" y="40873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varchar[64]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varchar[20]</a:t>
            </a:r>
            <a:endParaRPr lang="en-US" sz="1100" dirty="0"/>
          </a:p>
        </p:txBody>
      </p:sp>
      <p:sp>
        <p:nvSpPr>
          <p:cNvPr id="21" name="Csoport Készlet"/>
          <p:cNvSpPr txBox="1"/>
          <p:nvPr/>
        </p:nvSpPr>
        <p:spPr>
          <a:xfrm>
            <a:off x="502920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Készlet</a:t>
            </a:r>
            <a:endParaRPr lang="en-US" sz="1600" dirty="0"/>
          </a:p>
        </p:txBody>
      </p:sp>
      <p:sp>
        <p:nvSpPr>
          <p:cNvPr id="22" name="Tábla fejléc items"/>
          <p:cNvSpPr/>
          <p:nvPr/>
        </p:nvSpPr>
        <p:spPr>
          <a:xfrm>
            <a:off x="5029200" y="1874520"/>
            <a:ext cx="2103120" cy="3291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ábla név items"/>
          <p:cNvSpPr txBox="1"/>
          <p:nvPr/>
        </p:nvSpPr>
        <p:spPr>
          <a:xfrm>
            <a:off x="5138928" y="18745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items</a:t>
            </a:r>
            <a:endParaRPr lang="en-US" sz="1400" dirty="0"/>
          </a:p>
        </p:txBody>
      </p:sp>
      <p:sp>
        <p:nvSpPr>
          <p:cNvPr id="24" name="Tábla törzs items"/>
          <p:cNvSpPr/>
          <p:nvPr/>
        </p:nvSpPr>
        <p:spPr>
          <a:xfrm>
            <a:off x="5029200" y="2203704"/>
            <a:ext cx="2103120" cy="9144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Mezők items"/>
          <p:cNvSpPr txBox="1"/>
          <p:nvPr/>
        </p:nvSpPr>
        <p:spPr>
          <a:xfrm>
            <a:off x="5138928" y="2276856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00" dirty="0"/>
          </a:p>
        </p:txBody>
      </p:sp>
      <p:sp>
        <p:nvSpPr>
          <p:cNvPr id="26" name="Tábla fejléc itemtype"/>
          <p:cNvSpPr/>
          <p:nvPr/>
        </p:nvSpPr>
        <p:spPr>
          <a:xfrm>
            <a:off x="5029200" y="3300984"/>
            <a:ext cx="2103120" cy="3291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ábla név itemtype"/>
          <p:cNvSpPr txBox="1"/>
          <p:nvPr/>
        </p:nvSpPr>
        <p:spPr>
          <a:xfrm>
            <a:off x="5138928" y="33009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itemtype</a:t>
            </a:r>
            <a:endParaRPr lang="en-US" sz="1400" dirty="0"/>
          </a:p>
        </p:txBody>
      </p:sp>
      <p:sp>
        <p:nvSpPr>
          <p:cNvPr id="28" name="Tábla törzs itemtype"/>
          <p:cNvSpPr/>
          <p:nvPr/>
        </p:nvSpPr>
        <p:spPr>
          <a:xfrm>
            <a:off x="5029200" y="3630168"/>
            <a:ext cx="2103120" cy="72237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Mezők itemtype"/>
          <p:cNvSpPr txBox="1"/>
          <p:nvPr/>
        </p:nvSpPr>
        <p:spPr>
          <a:xfrm>
            <a:off x="5138928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varchar[20]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profitkey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100" dirty="0"/>
          </a:p>
        </p:txBody>
      </p:sp>
      <p:sp>
        <p:nvSpPr>
          <p:cNvPr id="30" name="Tábla fejléc palettes"/>
          <p:cNvSpPr/>
          <p:nvPr/>
        </p:nvSpPr>
        <p:spPr>
          <a:xfrm>
            <a:off x="5029200" y="4535424"/>
            <a:ext cx="2103120" cy="3291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ábla név palettes"/>
          <p:cNvSpPr txBox="1"/>
          <p:nvPr/>
        </p:nvSpPr>
        <p:spPr>
          <a:xfrm>
            <a:off x="5138928" y="4535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palettes</a:t>
            </a:r>
            <a:endParaRPr lang="en-US" sz="1400" dirty="0"/>
          </a:p>
        </p:txBody>
      </p:sp>
      <p:sp>
        <p:nvSpPr>
          <p:cNvPr id="32" name="Tábla törzs palettes"/>
          <p:cNvSpPr/>
          <p:nvPr/>
        </p:nvSpPr>
        <p:spPr>
          <a:xfrm>
            <a:off x="5029200" y="4864608"/>
            <a:ext cx="2103120" cy="72237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Mezők palettes"/>
          <p:cNvSpPr txBox="1"/>
          <p:nvPr/>
        </p:nvSpPr>
        <p:spPr>
          <a:xfrm>
            <a:off x="5138928" y="4937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00" dirty="0"/>
          </a:p>
        </p:txBody>
      </p:sp>
      <p:sp>
        <p:nvSpPr>
          <p:cNvPr id="34" name="Csoport Beszerzés"/>
          <p:cNvSpPr txBox="1"/>
          <p:nvPr/>
        </p:nvSpPr>
        <p:spPr>
          <a:xfrm>
            <a:off x="726948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Beszerzés</a:t>
            </a:r>
            <a:endParaRPr lang="en-US" sz="1600" dirty="0"/>
          </a:p>
        </p:txBody>
      </p:sp>
      <p:sp>
        <p:nvSpPr>
          <p:cNvPr id="35" name="Tábla fejléc inward"/>
          <p:cNvSpPr/>
          <p:nvPr/>
        </p:nvSpPr>
        <p:spPr>
          <a:xfrm>
            <a:off x="7269480" y="1874520"/>
            <a:ext cx="2103120" cy="3291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ábla név inward"/>
          <p:cNvSpPr txBox="1"/>
          <p:nvPr/>
        </p:nvSpPr>
        <p:spPr>
          <a:xfrm>
            <a:off x="7379208" y="18745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inward</a:t>
            </a:r>
            <a:endParaRPr lang="en-US" sz="1400" dirty="0"/>
          </a:p>
        </p:txBody>
      </p:sp>
      <p:sp>
        <p:nvSpPr>
          <p:cNvPr id="37" name="Tábla törzs inward"/>
          <p:cNvSpPr/>
          <p:nvPr/>
        </p:nvSpPr>
        <p:spPr>
          <a:xfrm>
            <a:off x="7269480" y="2203704"/>
            <a:ext cx="2103120" cy="9144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Mezők inward"/>
          <p:cNvSpPr txBox="1"/>
          <p:nvPr/>
        </p:nvSpPr>
        <p:spPr>
          <a:xfrm>
            <a:off x="7379208" y="2276856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varchar[10]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00" dirty="0"/>
          </a:p>
        </p:txBody>
      </p:sp>
      <p:sp>
        <p:nvSpPr>
          <p:cNvPr id="39" name="Tábla fejléc suppliers"/>
          <p:cNvSpPr/>
          <p:nvPr/>
        </p:nvSpPr>
        <p:spPr>
          <a:xfrm>
            <a:off x="7269480" y="3300984"/>
            <a:ext cx="2103120" cy="3291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ábla név suppliers"/>
          <p:cNvSpPr txBox="1"/>
          <p:nvPr/>
        </p:nvSpPr>
        <p:spPr>
          <a:xfrm>
            <a:off x="7379208" y="33009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suppliers</a:t>
            </a:r>
            <a:endParaRPr lang="en-US" sz="1400" dirty="0"/>
          </a:p>
        </p:txBody>
      </p:sp>
      <p:sp>
        <p:nvSpPr>
          <p:cNvPr id="41" name="Tábla törzs suppliers"/>
          <p:cNvSpPr/>
          <p:nvPr/>
        </p:nvSpPr>
        <p:spPr>
          <a:xfrm>
            <a:off x="7269480" y="3630168"/>
            <a:ext cx="2103120" cy="9144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Mezők suppliers"/>
          <p:cNvSpPr txBox="1"/>
          <p:nvPr/>
        </p:nvSpPr>
        <p:spPr>
          <a:xfrm>
            <a:off x="7379208" y="3703320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varchar[40]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varchar[50]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varchar[15]</a:t>
            </a:r>
            <a:endParaRPr lang="en-US" sz="1100" dirty="0"/>
          </a:p>
        </p:txBody>
      </p:sp>
      <p:sp>
        <p:nvSpPr>
          <p:cNvPr id="43" name="Csoport Kiadás"/>
          <p:cNvSpPr txBox="1"/>
          <p:nvPr/>
        </p:nvSpPr>
        <p:spPr>
          <a:xfrm>
            <a:off x="950976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Kiadás</a:t>
            </a:r>
            <a:endParaRPr lang="en-US" sz="1600" dirty="0"/>
          </a:p>
        </p:txBody>
      </p:sp>
      <p:sp>
        <p:nvSpPr>
          <p:cNvPr id="44" name="Tábla fejléc outward"/>
          <p:cNvSpPr/>
          <p:nvPr/>
        </p:nvSpPr>
        <p:spPr>
          <a:xfrm>
            <a:off x="9509760" y="1874520"/>
            <a:ext cx="2103120" cy="3291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ábla név outward"/>
          <p:cNvSpPr txBox="1"/>
          <p:nvPr/>
        </p:nvSpPr>
        <p:spPr>
          <a:xfrm>
            <a:off x="9619488" y="18745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outward</a:t>
            </a:r>
            <a:endParaRPr lang="en-US" sz="1400" dirty="0"/>
          </a:p>
        </p:txBody>
      </p:sp>
      <p:sp>
        <p:nvSpPr>
          <p:cNvPr id="46" name="Tábla törzs outward"/>
          <p:cNvSpPr/>
          <p:nvPr/>
        </p:nvSpPr>
        <p:spPr>
          <a:xfrm>
            <a:off x="9509760" y="2203704"/>
            <a:ext cx="2103120" cy="1106424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Mezők outward"/>
          <p:cNvSpPr txBox="1"/>
          <p:nvPr/>
        </p:nvSpPr>
        <p:spPr>
          <a:xfrm>
            <a:off x="9619488" y="2276856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varchar[10]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varchar[40]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00" dirty="0"/>
          </a:p>
        </p:txBody>
      </p:sp>
      <p:sp>
        <p:nvSpPr>
          <p:cNvPr id="48" name="Tábla fejléc ordertypes"/>
          <p:cNvSpPr/>
          <p:nvPr/>
        </p:nvSpPr>
        <p:spPr>
          <a:xfrm>
            <a:off x="9509760" y="3493008"/>
            <a:ext cx="2103120" cy="3291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ábla név ordertypes"/>
          <p:cNvSpPr txBox="1"/>
          <p:nvPr/>
        </p:nvSpPr>
        <p:spPr>
          <a:xfrm>
            <a:off x="9619488" y="34930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ordertypes</a:t>
            </a:r>
            <a:endParaRPr lang="en-US" sz="1400" dirty="0"/>
          </a:p>
        </p:txBody>
      </p:sp>
      <p:sp>
        <p:nvSpPr>
          <p:cNvPr id="50" name="Tábla törzs ordertypes"/>
          <p:cNvSpPr/>
          <p:nvPr/>
        </p:nvSpPr>
        <p:spPr>
          <a:xfrm>
            <a:off x="9509760" y="3822192"/>
            <a:ext cx="2103120" cy="530352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Mezők ordertypes"/>
          <p:cNvSpPr txBox="1"/>
          <p:nvPr/>
        </p:nvSpPr>
        <p:spPr>
          <a:xfrm>
            <a:off x="9619488" y="38953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varchar[10]</a:t>
            </a:r>
            <a:endParaRPr lang="en-US" sz="1100" dirty="0"/>
          </a:p>
        </p:txBody>
      </p:sp>
      <p:sp>
        <p:nvSpPr>
          <p:cNvPr id="52" name="Tábla fejléc orderitems"/>
          <p:cNvSpPr/>
          <p:nvPr/>
        </p:nvSpPr>
        <p:spPr>
          <a:xfrm>
            <a:off x="9509760" y="4535424"/>
            <a:ext cx="2103120" cy="3291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ábla név orderitems"/>
          <p:cNvSpPr txBox="1"/>
          <p:nvPr/>
        </p:nvSpPr>
        <p:spPr>
          <a:xfrm>
            <a:off x="9619488" y="4535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orderitems</a:t>
            </a:r>
            <a:endParaRPr lang="en-US" sz="1400" dirty="0"/>
          </a:p>
        </p:txBody>
      </p:sp>
      <p:sp>
        <p:nvSpPr>
          <p:cNvPr id="54" name="Tábla törzs orderitems"/>
          <p:cNvSpPr/>
          <p:nvPr/>
        </p:nvSpPr>
        <p:spPr>
          <a:xfrm>
            <a:off x="9509760" y="4864608"/>
            <a:ext cx="2103120" cy="72237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Mezők orderitems"/>
          <p:cNvSpPr txBox="1"/>
          <p:nvPr/>
        </p:nvSpPr>
        <p:spPr>
          <a:xfrm>
            <a:off x="9619488" y="4937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itemid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</a:t>
            </a: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00" dirty="0"/>
          </a:p>
        </p:txBody>
      </p:sp>
      <p:sp>
        <p:nvSpPr>
          <p:cNvPr id="56" name="Jelmagyarázat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PK: elsődleges kulcs · FK: idegen kulcs · narancs fejléc: a v0.6-ban új tábla · forrás: docs/database_v0.6.dia</a:t>
            </a:r>
            <a:endParaRPr lang="en-US" sz="120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Mi változott a v0.5-ről a v0.6-ra</a:t>
            </a:r>
            <a:endParaRPr lang="en-US" sz="3600" dirty="0"/>
          </a:p>
        </p:txBody>
      </p:sp>
      <p:sp>
        <p:nvSpPr>
          <p:cNvPr id="3" name="Táblaszám kártya"/>
          <p:cNvSpPr/>
          <p:nvPr/>
        </p:nvSpPr>
        <p:spPr>
          <a:xfrm>
            <a:off x="548640" y="1508760"/>
            <a:ext cx="4206240" cy="448056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v0.5 felirat"/>
          <p:cNvSpPr txBox="1"/>
          <p:nvPr/>
        </p:nvSpPr>
        <p:spPr>
          <a:xfrm>
            <a:off x="8229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</a:rPr>
              <a:t>v0.5</a:t>
            </a:r>
            <a:endParaRPr lang="en-US" sz="1600" dirty="0"/>
          </a:p>
        </p:txBody>
      </p:sp>
      <p:sp>
        <p:nvSpPr>
          <p:cNvPr id="5" name="v0.5 szám"/>
          <p:cNvSpPr txBox="1"/>
          <p:nvPr/>
        </p:nvSpPr>
        <p:spPr>
          <a:xfrm>
            <a:off x="82296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5"/>
                </a:solidFill>
              </a:rPr>
              <a:t>10</a:t>
            </a:r>
            <a:endParaRPr lang="en-US" sz="8000" dirty="0"/>
          </a:p>
        </p:txBody>
      </p:sp>
      <p:sp>
        <p:nvSpPr>
          <p:cNvPr id="6" name="v0.5 egység"/>
          <p:cNvSpPr txBox="1"/>
          <p:nvPr/>
        </p:nvSpPr>
        <p:spPr>
          <a:xfrm>
            <a:off x="8229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tábla</a:t>
            </a:r>
            <a:endParaRPr lang="en-US" sz="1400" dirty="0"/>
          </a:p>
        </p:txBody>
      </p:sp>
      <p:pic>
        <p:nvPicPr>
          <p:cNvPr id="7" name="Nyíl l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377440" y="3657600"/>
            <a:ext cx="365760" cy="365760"/>
          </a:xfrm>
          <a:prstGeom prst="rect">
            <a:avLst/>
          </a:prstGeom>
        </p:spPr>
      </p:pic>
      <p:sp>
        <p:nvSpPr>
          <p:cNvPr id="8" name="v0.6 felirat"/>
          <p:cNvSpPr txBox="1"/>
          <p:nvPr/>
        </p:nvSpPr>
        <p:spPr>
          <a:xfrm>
            <a:off x="82296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v0.6</a:t>
            </a:r>
            <a:endParaRPr lang="en-US" sz="1600" dirty="0"/>
          </a:p>
        </p:txBody>
      </p:sp>
      <p:sp>
        <p:nvSpPr>
          <p:cNvPr id="9" name="v0.6 szám"/>
          <p:cNvSpPr txBox="1"/>
          <p:nvPr/>
        </p:nvSpPr>
        <p:spPr>
          <a:xfrm>
            <a:off x="822960" y="4434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1"/>
                </a:solidFill>
              </a:rPr>
              <a:t>12</a:t>
            </a:r>
            <a:endParaRPr lang="en-US" sz="8000" dirty="0"/>
          </a:p>
        </p:txBody>
      </p:sp>
      <p:sp>
        <p:nvSpPr>
          <p:cNvPr id="10" name="v0.6 egység"/>
          <p:cNvSpPr txBox="1"/>
          <p:nvPr/>
        </p:nvSpPr>
        <p:spPr>
          <a:xfrm>
            <a:off x="82296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tábla</a:t>
            </a:r>
            <a:endParaRPr lang="en-US" sz="1400" dirty="0"/>
          </a:p>
        </p:txBody>
      </p:sp>
      <p:sp>
        <p:nvSpPr>
          <p:cNvPr id="11" name="Változás actionlog – műveleti napló"/>
          <p:cNvSpPr/>
          <p:nvPr/>
        </p:nvSpPr>
        <p:spPr>
          <a:xfrm>
            <a:off x="5120640" y="1508760"/>
            <a:ext cx="6492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actionlog – műveleti napló kör"/>
          <p:cNvSpPr/>
          <p:nvPr/>
        </p:nvSpPr>
        <p:spPr>
          <a:xfrm>
            <a:off x="539496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actionlog – műveleti napló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579" y="2028139"/>
            <a:ext cx="332842" cy="332842"/>
          </a:xfrm>
          <a:prstGeom prst="rect">
            <a:avLst/>
          </a:prstGeom>
        </p:spPr>
      </p:pic>
      <p:sp>
        <p:nvSpPr>
          <p:cNvPr id="14" name="actionlog – műveleti napló cím"/>
          <p:cNvSpPr txBox="1"/>
          <p:nvPr/>
        </p:nvSpPr>
        <p:spPr>
          <a:xfrm>
            <a:off x="62636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actionlog – műveleti napló</a:t>
            </a:r>
            <a:endParaRPr lang="en-US" sz="2000" dirty="0"/>
          </a:p>
        </p:txBody>
      </p:sp>
      <p:sp>
        <p:nvSpPr>
          <p:cNvPr id="15" name="actionlog – műveleti napló leírás"/>
          <p:cNvSpPr txBox="1"/>
          <p:nvPr/>
        </p:nvSpPr>
        <p:spPr>
          <a:xfrm>
            <a:off x="6263640" y="2103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Rögzíti, ki milyen műveletet végzett: action, status, serial és timestamp mezővel.</a:t>
            </a:r>
            <a:endParaRPr lang="en-US" sz="1400" dirty="0"/>
          </a:p>
        </p:txBody>
      </p:sp>
      <p:sp>
        <p:nvSpPr>
          <p:cNvPr id="16" name="Változás active – aktív munkamenetek"/>
          <p:cNvSpPr/>
          <p:nvPr/>
        </p:nvSpPr>
        <p:spPr>
          <a:xfrm>
            <a:off x="5120640" y="3063240"/>
            <a:ext cx="6492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active – aktív munkamenetek kör"/>
          <p:cNvSpPr/>
          <p:nvPr/>
        </p:nvSpPr>
        <p:spPr>
          <a:xfrm>
            <a:off x="5394960" y="3429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active – aktív munkamenetek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8579" y="3582619"/>
            <a:ext cx="332842" cy="332842"/>
          </a:xfrm>
          <a:prstGeom prst="rect">
            <a:avLst/>
          </a:prstGeom>
        </p:spPr>
      </p:pic>
      <p:sp>
        <p:nvSpPr>
          <p:cNvPr id="19" name="active – aktív munkamenetek cím"/>
          <p:cNvSpPr txBox="1"/>
          <p:nvPr/>
        </p:nvSpPr>
        <p:spPr>
          <a:xfrm>
            <a:off x="6263640" y="3246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active – aktív munkamenetek</a:t>
            </a:r>
            <a:endParaRPr lang="en-US" sz="2000" dirty="0"/>
          </a:p>
        </p:txBody>
      </p:sp>
      <p:sp>
        <p:nvSpPr>
          <p:cNvPr id="20" name="active – aktív munkamenetek leírás"/>
          <p:cNvSpPr txBox="1"/>
          <p:nvPr/>
        </p:nvSpPr>
        <p:spPr>
          <a:xfrm>
            <a:off x="6263640" y="3657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tervjegyzet szerint az aktív, bejelentkezett és inaktív felhasználókat tárolja tokennel.</a:t>
            </a:r>
            <a:endParaRPr lang="en-US" sz="1400" dirty="0"/>
          </a:p>
        </p:txBody>
      </p:sp>
      <p:sp>
        <p:nvSpPr>
          <p:cNvPr id="21" name="Változás Változatlan alap"/>
          <p:cNvSpPr/>
          <p:nvPr/>
        </p:nvSpPr>
        <p:spPr>
          <a:xfrm>
            <a:off x="5120640" y="4617720"/>
            <a:ext cx="6492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Változatlan alap kör"/>
          <p:cNvSpPr/>
          <p:nvPr/>
        </p:nvSpPr>
        <p:spPr>
          <a:xfrm>
            <a:off x="5394960" y="4983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Változatlan alap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8579" y="5137099"/>
            <a:ext cx="332842" cy="332842"/>
          </a:xfrm>
          <a:prstGeom prst="rect">
            <a:avLst/>
          </a:prstGeom>
        </p:spPr>
      </p:pic>
      <p:sp>
        <p:nvSpPr>
          <p:cNvPr id="24" name="Változatlan alap cím"/>
          <p:cNvSpPr txBox="1"/>
          <p:nvPr/>
        </p:nvSpPr>
        <p:spPr>
          <a:xfrm>
            <a:off x="626364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Változatlan alap</a:t>
            </a:r>
            <a:endParaRPr lang="en-US" sz="2000" dirty="0"/>
          </a:p>
        </p:txBody>
      </p:sp>
      <p:sp>
        <p:nvSpPr>
          <p:cNvPr id="25" name="Változatlan alap leírás"/>
          <p:cNvSpPr txBox="1"/>
          <p:nvPr/>
        </p:nvSpPr>
        <p:spPr>
          <a:xfrm>
            <a:off x="6263640" y="52120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Felhasználók és jogosultsági szintek, készlet (items, palettes), bejövő és kimenő forgalom.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Állapot és következő lépések</a:t>
            </a:r>
            <a:endParaRPr lang="en-US" sz="3600" dirty="0"/>
          </a:p>
        </p:txBody>
      </p:sp>
      <p:sp>
        <p:nvSpPr>
          <p:cNvPr id="3" name="Elkészült cím"/>
          <p:cNvSpPr txBox="1"/>
          <p:nvPr/>
        </p:nvSpPr>
        <p:spPr>
          <a:xfrm>
            <a:off x="548640" y="1508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Elkészült</a:t>
            </a:r>
            <a:endParaRPr lang="en-US" sz="2400" dirty="0"/>
          </a:p>
        </p:txBody>
      </p:sp>
      <p:sp>
        <p:nvSpPr>
          <p:cNvPr id="4" name="Következő cím"/>
          <p:cNvSpPr txBox="1"/>
          <p:nvPr/>
        </p:nvSpPr>
        <p:spPr>
          <a:xfrm>
            <a:off x="630936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Következő lépések</a:t>
            </a:r>
            <a:endParaRPr lang="en-US" sz="2400" dirty="0"/>
          </a:p>
        </p:txBody>
      </p:sp>
      <p:sp>
        <p:nvSpPr>
          <p:cNvPr id="5" name="Kész 1 kör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Kész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58568"/>
            <a:ext cx="237744" cy="237744"/>
          </a:xfrm>
          <a:prstGeom prst="rect">
            <a:avLst/>
          </a:prstGeom>
        </p:spPr>
      </p:pic>
      <p:sp>
        <p:nvSpPr>
          <p:cNvPr id="7" name="Kész szöveg 1"/>
          <p:cNvSpPr txBox="1"/>
          <p:nvPr/>
        </p:nvSpPr>
        <p:spPr>
          <a:xfrm>
            <a:off x="1188720" y="2103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Egyoldalas, magyar nyelvű Vue felület: fejléc, kereső, tárhelylista és nyilvántartási táblázat</a:t>
            </a:r>
            <a:endParaRPr lang="en-US" sz="1600" dirty="0"/>
          </a:p>
        </p:txBody>
      </p:sp>
      <p:sp>
        <p:nvSpPr>
          <p:cNvPr id="8" name="Kész 2 kör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Kész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64408"/>
            <a:ext cx="237744" cy="237744"/>
          </a:xfrm>
          <a:prstGeom prst="rect">
            <a:avLst/>
          </a:prstGeom>
        </p:spPr>
      </p:pic>
      <p:sp>
        <p:nvSpPr>
          <p:cNvPr id="10" name="Kész szöveg 2"/>
          <p:cNvSpPr txBox="1"/>
          <p:nvPr/>
        </p:nvSpPr>
        <p:spPr>
          <a:xfrm>
            <a:off x="1188720" y="3108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Express szerver két API végponttal, a Vite proxyján át a felülethez kötve</a:t>
            </a:r>
            <a:endParaRPr lang="en-US" sz="1600" dirty="0"/>
          </a:p>
        </p:txBody>
      </p:sp>
      <p:sp>
        <p:nvSpPr>
          <p:cNvPr id="11" name="Kész 3 kör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Kész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70248"/>
            <a:ext cx="237744" cy="237744"/>
          </a:xfrm>
          <a:prstGeom prst="rect">
            <a:avLst/>
          </a:prstGeom>
        </p:spPr>
      </p:pic>
      <p:sp>
        <p:nvSpPr>
          <p:cNvPr id="13" name="Kész szöveg 3"/>
          <p:cNvSpPr txBox="1"/>
          <p:nvPr/>
        </p:nvSpPr>
        <p:spPr>
          <a:xfrm>
            <a:off x="1188720" y="4114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Az adatmodell v0.6 megtervezve (12 tábla)</a:t>
            </a:r>
            <a:endParaRPr lang="en-US" sz="1600" dirty="0"/>
          </a:p>
        </p:txBody>
      </p:sp>
      <p:sp>
        <p:nvSpPr>
          <p:cNvPr id="14" name="Teendő 1 kör"/>
          <p:cNvSpPr/>
          <p:nvPr/>
        </p:nvSpPr>
        <p:spPr>
          <a:xfrm>
            <a:off x="630936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Teendő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58568"/>
            <a:ext cx="237744" cy="237744"/>
          </a:xfrm>
          <a:prstGeom prst="rect">
            <a:avLst/>
          </a:prstGeom>
        </p:spPr>
      </p:pic>
      <p:sp>
        <p:nvSpPr>
          <p:cNvPr id="16" name="Teendő szöveg 1"/>
          <p:cNvSpPr txBox="1"/>
          <p:nvPr/>
        </p:nvSpPr>
        <p:spPr>
          <a:xfrm>
            <a:off x="6949440" y="2103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Adatréteg: db.js és az SQLite-séma létrehozása (jelenleg még üres)</a:t>
            </a:r>
            <a:endParaRPr lang="en-US" sz="1600" dirty="0"/>
          </a:p>
        </p:txBody>
      </p:sp>
      <p:sp>
        <p:nvSpPr>
          <p:cNvPr id="17" name="Teendő 2 kör"/>
          <p:cNvSpPr/>
          <p:nvPr/>
        </p:nvSpPr>
        <p:spPr>
          <a:xfrm>
            <a:off x="6309360" y="2953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Teendő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063240"/>
            <a:ext cx="237744" cy="237744"/>
          </a:xfrm>
          <a:prstGeom prst="rect">
            <a:avLst/>
          </a:prstGeom>
        </p:spPr>
      </p:pic>
      <p:sp>
        <p:nvSpPr>
          <p:cNvPr id="19" name="Teendő szöveg 2"/>
          <p:cNvSpPr txBox="1"/>
          <p:nvPr/>
        </p:nvSpPr>
        <p:spPr>
          <a:xfrm>
            <a:off x="6949440" y="29077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Szerver-oldali csomagok (Express, SQLite-meghajtó) felvétele a package.json-ba</a:t>
            </a:r>
            <a:endParaRPr lang="en-US" sz="1600" dirty="0"/>
          </a:p>
        </p:txBody>
      </p:sp>
      <p:sp>
        <p:nvSpPr>
          <p:cNvPr id="20" name="Teendő 3 kör"/>
          <p:cNvSpPr/>
          <p:nvPr/>
        </p:nvSpPr>
        <p:spPr>
          <a:xfrm>
            <a:off x="6309360" y="3758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Teendő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867912"/>
            <a:ext cx="237744" cy="237744"/>
          </a:xfrm>
          <a:prstGeom prst="rect">
            <a:avLst/>
          </a:prstGeom>
        </p:spPr>
      </p:pic>
      <p:sp>
        <p:nvSpPr>
          <p:cNvPr id="22" name="Teendő szöveg 3"/>
          <p:cNvSpPr txBox="1"/>
          <p:nvPr/>
        </p:nvSpPr>
        <p:spPr>
          <a:xfrm>
            <a:off x="6949440" y="371246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Sablonadatok helyett élő adatok a táblázatban és az állapotmutatókban</a:t>
            </a:r>
            <a:endParaRPr lang="en-US" sz="1600" dirty="0"/>
          </a:p>
        </p:txBody>
      </p:sp>
      <p:sp>
        <p:nvSpPr>
          <p:cNvPr id="23" name="Teendő 4 kör"/>
          <p:cNvSpPr/>
          <p:nvPr/>
        </p:nvSpPr>
        <p:spPr>
          <a:xfrm>
            <a:off x="6309360" y="45628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Teendő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672584"/>
            <a:ext cx="237744" cy="237744"/>
          </a:xfrm>
          <a:prstGeom prst="rect">
            <a:avLst/>
          </a:prstGeom>
        </p:spPr>
      </p:pic>
      <p:sp>
        <p:nvSpPr>
          <p:cNvPr id="25" name="Teendő szöveg 4"/>
          <p:cNvSpPr txBox="1"/>
          <p:nvPr/>
        </p:nvSpPr>
        <p:spPr>
          <a:xfrm>
            <a:off x="6949440" y="451713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Regisztráció, bejelentkezés és szerepkör-alapú Szerkesztés/Törlés gombok</a:t>
            </a:r>
            <a:endParaRPr lang="en-US" sz="1600" dirty="0"/>
          </a:p>
        </p:txBody>
      </p:sp>
      <p:sp>
        <p:nvSpPr>
          <p:cNvPr id="26" name="Teendő 5 kör"/>
          <p:cNvSpPr/>
          <p:nvPr/>
        </p:nvSpPr>
        <p:spPr>
          <a:xfrm>
            <a:off x="6309360" y="5367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Teendő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5477256"/>
            <a:ext cx="237744" cy="237744"/>
          </a:xfrm>
          <a:prstGeom prst="rect">
            <a:avLst/>
          </a:prstGeom>
        </p:spPr>
      </p:pic>
      <p:sp>
        <p:nvSpPr>
          <p:cNvPr id="28" name="Teendő szöveg 5"/>
          <p:cNvSpPr txBox="1"/>
          <p:nvPr/>
        </p:nvSpPr>
        <p:spPr>
          <a:xfrm>
            <a:off x="6949440" y="53218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Működő keresés az API mögött, felhasználói történetek kidolgozása</a:t>
            </a:r>
            <a:endParaRPr lang="en-US" sz="1600" dirty="0"/>
          </a:p>
        </p:txBody>
      </p:sp>
      <p:sp>
        <p:nvSpPr>
          <p:cNvPr id="29" name="Repó cím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github.com/tataverteee/DJS_Aruhaz-Raktar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JS Raktar">
  <a:themeElements>
    <a:clrScheme name="DJS Raktar">
      <a:dk1>
        <a:srgbClr val="1B2430"/>
      </a:dk1>
      <a:lt1>
        <a:srgbClr val="FFFFFF"/>
      </a:lt1>
      <a:dk2>
        <a:srgbClr val="2E3B4A"/>
      </a:dk2>
      <a:lt2>
        <a:srgbClr val="EEF1F4"/>
      </a:lt2>
      <a:accent1>
        <a:srgbClr val="BF6510"/>
      </a:accent1>
      <a:accent2>
        <a:srgbClr val="2F7D5B"/>
      </a:accent2>
      <a:accent3>
        <a:srgbClr val="C2452D"/>
      </a:accent3>
      <a:accent4>
        <a:srgbClr val="3C6E91"/>
      </a:accent4>
      <a:accent5>
        <a:srgbClr val="6B7886"/>
      </a:accent5>
      <a:accent6>
        <a:srgbClr val="E9B44C"/>
      </a:accent6>
      <a:hlink>
        <a:srgbClr val="3C6E91"/>
      </a:hlink>
      <a:folHlink>
        <a:srgbClr val="6B7886"/>
      </a:folHlink>
    </a:clrScheme>
    <a:fontScheme name="DJS Rakt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1465</Words>
  <Application>Microsoft Office PowerPoint</Application>
  <PresentationFormat>Szélesvásznú</PresentationFormat>
  <Paragraphs>262</Paragraphs>
  <Slides>11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DJS Raktar</vt:lpstr>
      <vt:lpstr>DJS Áruház-Raktár</vt:lpstr>
      <vt:lpstr>A projekt egy pillantásra</vt:lpstr>
      <vt:lpstr>Fejelsztők</vt:lpstr>
      <vt:lpstr>A felhasználói felület felépítése</vt:lpstr>
      <vt:lpstr>A nyilvántartás táblázata</vt:lpstr>
      <vt:lpstr>Architektúra</vt:lpstr>
      <vt:lpstr>Technológiai stack</vt:lpstr>
      <vt:lpstr>Backend és futtatás</vt:lpstr>
      <vt:lpstr>Adatmodell (v0.6)</vt:lpstr>
      <vt:lpstr>Mi változott a v0.5-ről a v0.6-ra</vt:lpstr>
      <vt:lpstr>Állapot és következő lépések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DJS Áruház-Raktár – projektbemutató</dc:title>
  <dc:subject>PptxGenJS Presentation</dc:subject>
  <dc:creator>DJS Áruház-Raktár</dc:creator>
  <cp:lastModifiedBy>O365 felhasználó</cp:lastModifiedBy>
  <cp:revision>4</cp:revision>
  <dcterms:created xsi:type="dcterms:W3CDTF">2026-10-09T06:35:35Z</dcterms:created>
  <dcterms:modified xsi:type="dcterms:W3CDTF">2026-10-09T08:02:10Z</dcterms:modified>
</cp:coreProperties>
</file>